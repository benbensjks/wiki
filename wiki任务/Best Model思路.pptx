
<file path=[Content_Types].xml><?xml version="1.0" encoding="utf-8"?>
<Types xmlns="http://schemas.openxmlformats.org/package/2006/content-types">
  <Default Extension="CmoIARAAGmRFaFFhd3FVbE00SWN3cVZTU01GRjZrVDdqamlTMFJqVy1Bc2dfZ29vcmNUM3diMi1sZ015QkhCeWIyUlFnTHN2V2hBXy1aWmVmcjdCelhqYXRpdklDNFhrZWdJQ2U0SUJBbWQ2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CmoIARAAGmRFaFFhd3FVbE00SWN3cVZTU01GRjZrVDdqamlTMFJqVy1Bc2dfZ29vcmNUM3diMi1sZ015QkhCeWIyUlFnTHN2V2hBXy1aWmVmcjdCelhqYXRpdklDNFhrZWdJQ2U0SUJBbWQ2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5EEF354-38ED-395D-D91D-10095C3915BE}"/>
              </a:ext>
            </a:extLst>
          </p:cNvPr>
          <p:cNvSpPr txBox="1"/>
          <p:nvPr/>
        </p:nvSpPr>
        <p:spPr>
          <a:xfrm>
            <a:off x="1572568" y="772546"/>
            <a:ext cx="70451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400" dirty="0"/>
              <a:t>oscillator design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pulse generation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single-bit counting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parameter optimization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cascade architecture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shutdown design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full-system coupling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 → </a:t>
            </a:r>
            <a:endParaRPr lang="en-US" altLang="zh-CN" sz="2400" dirty="0"/>
          </a:p>
          <a:p>
            <a:pPr>
              <a:buNone/>
            </a:pPr>
            <a:r>
              <a:rPr lang="zh-CN" altLang="zh-CN" sz="2400" dirty="0"/>
              <a:t>global robustness</a:t>
            </a:r>
            <a:r>
              <a:rPr lang="en-US" altLang="zh-CN" sz="2400" dirty="0"/>
              <a:t>  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07287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48E72D5-F4E6-4954-96C8-15A6020C4238}"/>
              </a:ext>
            </a:extLst>
          </p:cNvPr>
          <p:cNvSpPr txBox="1"/>
          <p:nvPr/>
        </p:nvSpPr>
        <p:spPr>
          <a:xfrm>
            <a:off x="339969" y="230338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000" dirty="0"/>
              <a:t>Engineering TEMPO Through Modeling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zh-CN" altLang="zh-CN" sz="2000" b="1" dirty="0">
                <a:effectLst/>
              </a:rPr>
              <a:t>1. Building the Clock</a:t>
            </a:r>
            <a:br>
              <a:rPr lang="zh-CN" altLang="zh-CN" sz="2000" dirty="0">
                <a:effectLst/>
              </a:rPr>
            </a:br>
            <a:r>
              <a:rPr lang="zh-CN" altLang="zh-CN" sz="2000" dirty="0">
                <a:effectLst/>
              </a:rPr>
              <a:t>What determines timing?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zh-CN" altLang="zh-CN" sz="2000" b="1" dirty="0"/>
              <a:t>2. Converting Pulses into Counts</a:t>
            </a:r>
            <a:br>
              <a:rPr lang="zh-CN" altLang="zh-CN" sz="2000" dirty="0"/>
            </a:br>
            <a:r>
              <a:rPr lang="zh-CN" altLang="zh-CN" sz="2000" dirty="0"/>
              <a:t>When does one pulse produce exactly one flip?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zh-CN" altLang="zh-CN" sz="2000" b="1" dirty="0"/>
              <a:t>3. Designing the Counter</a:t>
            </a:r>
            <a:br>
              <a:rPr lang="zh-CN" altLang="zh-CN" sz="2000" dirty="0"/>
            </a:br>
            <a:r>
              <a:rPr lang="zh-CN" altLang="zh-CN" sz="2000" dirty="0"/>
              <a:t>How strong should BM3R1 be, and do we need degradation?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zh-CN" altLang="zh-CN" sz="2000" b="1" dirty="0"/>
              <a:t>4. Scaling the Counter</a:t>
            </a:r>
            <a:br>
              <a:rPr lang="zh-CN" altLang="zh-CN" sz="2000" dirty="0"/>
            </a:br>
            <a:r>
              <a:rPr lang="zh-CN" altLang="zh-CN" sz="2000" dirty="0"/>
              <a:t>How should carry propagate between bits?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en-US" altLang="zh-CN" sz="2000" b="1" dirty="0"/>
              <a:t>5</a:t>
            </a:r>
            <a:r>
              <a:rPr lang="zh-CN" altLang="zh-CN" sz="2000" b="1" dirty="0"/>
              <a:t>. Model-Guided Shutdown Redesign</a:t>
            </a:r>
            <a:br>
              <a:rPr lang="zh-CN" altLang="zh-CN" sz="2000" dirty="0"/>
            </a:br>
            <a:r>
              <a:rPr lang="zh-CN" altLang="zh-CN" sz="2000" dirty="0"/>
              <a:t>How can expression duration be programmed?</a:t>
            </a:r>
          </a:p>
          <a:p>
            <a:pPr>
              <a:buNone/>
            </a:pPr>
            <a:r>
              <a:rPr lang="zh-CN" altLang="zh-CN" sz="2000" dirty="0"/>
              <a:t>↓</a:t>
            </a:r>
          </a:p>
          <a:p>
            <a:pPr>
              <a:buNone/>
            </a:pPr>
            <a:r>
              <a:rPr lang="en-US" altLang="zh-CN" sz="2000" b="1" dirty="0"/>
              <a:t>6</a:t>
            </a:r>
            <a:r>
              <a:rPr lang="zh-CN" altLang="zh-CN" sz="2000" b="1" dirty="0"/>
              <a:t>. Full-System Operating Region</a:t>
            </a:r>
            <a:br>
              <a:rPr lang="zh-CN" altLang="zh-CN" sz="2000" dirty="0"/>
            </a:br>
            <a:r>
              <a:rPr lang="zh-CN" altLang="zh-CN" sz="2000" dirty="0"/>
              <a:t>Under what conditions does TEMPO work reliably?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7BB2C-3A3A-321D-FEBC-AF59AAC79B59}"/>
              </a:ext>
            </a:extLst>
          </p:cNvPr>
          <p:cNvSpPr txBox="1"/>
          <p:nvPr/>
        </p:nvSpPr>
        <p:spPr>
          <a:xfrm>
            <a:off x="3170339" y="7952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振荡器 ODE；质粒/基因组状态模拟；振荡周期、幅度、pulse width；振荡器 GSA；根据关键参数研究周期调控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E78CEA-DDD3-CC96-03B5-18811D158F2E}"/>
              </a:ext>
            </a:extLst>
          </p:cNvPr>
          <p:cNvSpPr txBox="1"/>
          <p:nvPr/>
        </p:nvSpPr>
        <p:spPr>
          <a:xfrm>
            <a:off x="5505780" y="1624581"/>
            <a:ext cx="6265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将振荡器输出的 </a:t>
            </a:r>
            <a:r>
              <a:rPr lang="zh-CN" altLang="zh-CN" b="1" dirty="0"/>
              <a:t>C31/integrase 真实波形</a:t>
            </a:r>
            <a:r>
              <a:rPr lang="zh-CN" altLang="zh-CN" dirty="0"/>
              <a:t>作为计数器</a:t>
            </a:r>
            <a:r>
              <a:rPr lang="zh-CN" altLang="zh-CN" b="1" dirty="0"/>
              <a:t>输入</a:t>
            </a:r>
            <a:r>
              <a:rPr lang="zh-CN" altLang="zh-CN" dirty="0"/>
              <a:t>；模拟 Integrase + RDF 驱动 PB↔LR；研究“一次振荡脉冲是否</a:t>
            </a:r>
            <a:r>
              <a:rPr lang="zh-CN" altLang="zh-CN" b="1" dirty="0"/>
              <a:t>对应</a:t>
            </a:r>
            <a:r>
              <a:rPr lang="zh-CN" altLang="zh-CN" dirty="0"/>
              <a:t>一次有效翻转”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969E835-9EEF-0B5C-1870-DA9EA2669178}"/>
              </a:ext>
            </a:extLst>
          </p:cNvPr>
          <p:cNvSpPr txBox="1"/>
          <p:nvPr/>
        </p:nvSpPr>
        <p:spPr>
          <a:xfrm>
            <a:off x="5841346" y="2675256"/>
            <a:ext cx="63506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BM3R1 Hill 方程和参数替换；</a:t>
            </a:r>
            <a:r>
              <a:rPr lang="zh-CN" altLang="zh-CN" b="1" dirty="0"/>
              <a:t>BM3R1 promoter strength </a:t>
            </a:r>
            <a:r>
              <a:rPr lang="zh-CN" altLang="zh-CN" dirty="0"/>
              <a:t>参数扫描；BM3R1/RDF 表达比例；RDF 残留；是否加入 </a:t>
            </a:r>
            <a:r>
              <a:rPr lang="zh-CN" altLang="zh-CN" b="1" dirty="0"/>
              <a:t>degradation tag</a:t>
            </a:r>
            <a:r>
              <a:rPr lang="zh-CN" altLang="zh-CN" dirty="0"/>
              <a:t>；给实验组启动子强度建议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610AED-8CA6-0501-FDD3-6409FE8DDE1A}"/>
              </a:ext>
            </a:extLst>
          </p:cNvPr>
          <p:cNvSpPr txBox="1"/>
          <p:nvPr/>
        </p:nvSpPr>
        <p:spPr>
          <a:xfrm>
            <a:off x="5663463" y="3781540"/>
            <a:ext cx="6433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 方案：LR→PB 触发的 feed-forward carry pulse generator</a:t>
            </a:r>
            <a:r>
              <a:rPr lang="zh-CN" altLang="zh-CN" dirty="0"/>
              <a:t>；二级/三级级联；</a:t>
            </a:r>
            <a:r>
              <a:rPr lang="zh-CN" altLang="zh-CN" b="1" dirty="0"/>
              <a:t>D 方案：游离正交重组酶级联</a:t>
            </a:r>
            <a:r>
              <a:rPr lang="zh-CN" altLang="zh-CN" dirty="0"/>
              <a:t>；二者的时延、可靠性、输入窗口、级联能力比较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654AAF-B520-9E49-01BB-9EA45B9E87D3}"/>
              </a:ext>
            </a:extLst>
          </p:cNvPr>
          <p:cNvSpPr txBox="1"/>
          <p:nvPr/>
        </p:nvSpPr>
        <p:spPr>
          <a:xfrm>
            <a:off x="5702710" y="4816208"/>
            <a:ext cx="6489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shutdown module</a:t>
            </a:r>
            <a:r>
              <a:rPr lang="zh-CN" altLang="zh-CN" dirty="0"/>
              <a:t>，与阻遏蛋白/输出模块耦合；模拟关闭过程；扫描 shutdown 强度、delay 等参数；控制 expression duration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F86141-4CBB-A80C-1EA3-45E01E6FF6CD}"/>
              </a:ext>
            </a:extLst>
          </p:cNvPr>
          <p:cNvSpPr txBox="1"/>
          <p:nvPr/>
        </p:nvSpPr>
        <p:spPr>
          <a:xfrm>
            <a:off x="10630637" y="640669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E8F2D8-BC12-01EF-C876-1B8D24CFA696}"/>
              </a:ext>
            </a:extLst>
          </p:cNvPr>
          <p:cNvSpPr txBox="1"/>
          <p:nvPr/>
        </p:nvSpPr>
        <p:spPr>
          <a:xfrm>
            <a:off x="5663463" y="5814303"/>
            <a:ext cx="6501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强化的oscillator–counter </a:t>
            </a:r>
            <a:r>
              <a:rPr lang="zh-CN" altLang="zh-CN" b="1" dirty="0"/>
              <a:t>coupling</a:t>
            </a:r>
            <a:r>
              <a:rPr lang="zh-CN" altLang="zh-CN" dirty="0"/>
              <a:t>；改变 oscillator period / amplitude / pulse width 后研究计数器表现；研究接入 counter 后对 oscillator 的 </a:t>
            </a:r>
            <a:r>
              <a:rPr lang="zh-CN" altLang="zh-CN" b="1" dirty="0"/>
              <a:t>load effect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39632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4BC9698-0828-3213-CE97-54A901D90DF0}"/>
              </a:ext>
            </a:extLst>
          </p:cNvPr>
          <p:cNvSpPr txBox="1"/>
          <p:nvPr/>
        </p:nvSpPr>
        <p:spPr>
          <a:xfrm>
            <a:off x="1084970" y="257011"/>
            <a:ext cx="882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Did the model help the team understand, predict, or </a:t>
            </a:r>
            <a:r>
              <a:rPr lang="zh-CN" altLang="zh-CN" b="1" dirty="0"/>
              <a:t>design</a:t>
            </a:r>
            <a:r>
              <a:rPr lang="zh-CN" altLang="zh-CN" dirty="0"/>
              <a:t> the system?</a:t>
            </a:r>
            <a:endParaRPr lang="zh-CN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521B56D-F4D6-8EFF-9034-89FBAD765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75692"/>
              </p:ext>
            </p:extLst>
          </p:nvPr>
        </p:nvGraphicFramePr>
        <p:xfrm>
          <a:off x="1219797" y="811637"/>
          <a:ext cx="9943125" cy="55904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14375">
                  <a:extLst>
                    <a:ext uri="{9D8B030D-6E8A-4147-A177-3AD203B41FA5}">
                      <a16:colId xmlns:a16="http://schemas.microsoft.com/office/drawing/2014/main" val="992668220"/>
                    </a:ext>
                  </a:extLst>
                </a:gridCol>
                <a:gridCol w="3314375">
                  <a:extLst>
                    <a:ext uri="{9D8B030D-6E8A-4147-A177-3AD203B41FA5}">
                      <a16:colId xmlns:a16="http://schemas.microsoft.com/office/drawing/2014/main" val="3412655211"/>
                    </a:ext>
                  </a:extLst>
                </a:gridCol>
                <a:gridCol w="3314375">
                  <a:extLst>
                    <a:ext uri="{9D8B030D-6E8A-4147-A177-3AD203B41FA5}">
                      <a16:colId xmlns:a16="http://schemas.microsoft.com/office/drawing/2014/main" val="878746885"/>
                    </a:ext>
                  </a:extLst>
                </a:gridCol>
              </a:tblGrid>
              <a:tr h="328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Design question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Modeling insight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Consequence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234331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How can TEMPO control time?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Identified oscillator parameters controlling period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Tunable clock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587956"/>
                  </a:ext>
                </a:extLst>
              </a:tr>
              <a:tr h="848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How should oscillator and counter connect?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Protein concentration was not the correct interface; production flux must be used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Corrected oscillator-counter coupling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3988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Can one peak equal one count?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Identified one-pulse-one-flip regime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Reliable counting window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97724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How should BM3R1 be expressed?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Defined functional promoter region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Promoter design recommendation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24414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Is degradation required?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Protein persistence affects future cycles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Degradation-tag recommendation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66392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How can carry propagate?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Two distinct mechanisms show different constraints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Defined candidate cascade architectures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018302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/>
                        <a:t>How can stable LR produce finite output?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BM3R1 decay can time sRNA activation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Finite expression window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39836"/>
                  </a:ext>
                </a:extLst>
              </a:tr>
              <a:tr h="58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Is shutdown fragile?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Growth and multi-parameter tests retain function</a:t>
                      </a:r>
                    </a:p>
                  </a:txBody>
                  <a:tcPr marL="72522" marR="72522" marT="36261" marB="3626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800" dirty="0"/>
                        <a:t>Robustness support</a:t>
                      </a:r>
                    </a:p>
                  </a:txBody>
                  <a:tcPr marL="72522" marR="72522" marT="36261" marB="3626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804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983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CEB402-9EE7-8D0F-4BD3-74967B2CE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5" t="9720" r="8714"/>
          <a:stretch>
            <a:fillRect/>
          </a:stretch>
        </p:blipFill>
        <p:spPr>
          <a:xfrm>
            <a:off x="2566508" y="354789"/>
            <a:ext cx="6092676" cy="642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3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8441473-9F36-8F91-B0B7-D357F27026AE}"/>
              </a:ext>
            </a:extLst>
          </p:cNvPr>
          <p:cNvSpPr txBox="1"/>
          <p:nvPr/>
        </p:nvSpPr>
        <p:spPr>
          <a:xfrm>
            <a:off x="618122" y="687488"/>
            <a:ext cx="4223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What kind of modeling is being done and what information it will provide?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9B247A-6043-C08E-1557-A76DFB3278A6}"/>
              </a:ext>
            </a:extLst>
          </p:cNvPr>
          <p:cNvSpPr txBox="1"/>
          <p:nvPr/>
        </p:nvSpPr>
        <p:spPr>
          <a:xfrm>
            <a:off x="618102" y="221871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What assumptions were made and why?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EF06E93-73CA-54DD-3EBF-4FCEA56ADE01}"/>
              </a:ext>
            </a:extLst>
          </p:cNvPr>
          <p:cNvSpPr txBox="1"/>
          <p:nvPr/>
        </p:nvSpPr>
        <p:spPr>
          <a:xfrm>
            <a:off x="618102" y="3472934"/>
            <a:ext cx="422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What kind of data was used to build/assess the model?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4F0305-F9AF-BD59-877F-77A5F10AFF4D}"/>
              </a:ext>
            </a:extLst>
          </p:cNvPr>
          <p:cNvSpPr txBox="1"/>
          <p:nvPr/>
        </p:nvSpPr>
        <p:spPr>
          <a:xfrm>
            <a:off x="618102" y="5356966"/>
            <a:ext cx="4223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How did model results affect project design and development?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D03C71-F9CF-60A3-3974-8AD89286DA74}"/>
              </a:ext>
            </a:extLst>
          </p:cNvPr>
          <p:cNvSpPr txBox="1"/>
          <p:nvPr/>
        </p:nvSpPr>
        <p:spPr>
          <a:xfrm>
            <a:off x="5632152" y="328682"/>
            <a:ext cx="6242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我们</a:t>
            </a:r>
            <a:r>
              <a:rPr lang="zh-CN" altLang="zh-CN" dirty="0"/>
              <a:t>做的是以 ODE 为主的 mechanistic modeling，结合参数扫描、全局敏感性分析和系统级耦合分析。它分别用于预测振荡周期与波形、单脉冲翻转条件、计数器参数窗口、多级进位行为、表达时长，以及 oscillator-counter 的可靠工作区。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68AFD1-AB98-F9EB-C9B2-44256CBC9C61}"/>
              </a:ext>
            </a:extLst>
          </p:cNvPr>
          <p:cNvSpPr txBox="1"/>
          <p:nvPr/>
        </p:nvSpPr>
        <p:spPr>
          <a:xfrm>
            <a:off x="5632152" y="1971457"/>
            <a:ext cx="6433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每个模块分别写假设，例如 well-mixed、Hill-type regulation、蛋白合成/降解按有效速率表示、正交重组酶之间忽略串扰、DNA 状态转移用有效动力学描述等，并解释这些假设是在“保留与设计决策直接相关动力学”的同时降低模型复杂度。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7C4DF8-5DAF-A72B-6C0B-039AF7C8AB53}"/>
              </a:ext>
            </a:extLst>
          </p:cNvPr>
          <p:cNvSpPr txBox="1"/>
          <p:nvPr/>
        </p:nvSpPr>
        <p:spPr>
          <a:xfrm>
            <a:off x="5632152" y="3533921"/>
            <a:ext cx="6097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主要使用已有文献和数据库中的实验参数、原始论文模型参数、BM3R1 等调控元件已有表征数据；可用实验数据若最终有限，则明确作为 supplementary validation，而不是虚构完整实验闭环。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582A24-87E1-730F-D736-82ABAF14FB91}"/>
              </a:ext>
            </a:extLst>
          </p:cNvPr>
          <p:cNvSpPr txBox="1"/>
          <p:nvPr/>
        </p:nvSpPr>
        <p:spPr>
          <a:xfrm>
            <a:off x="5632152" y="5233389"/>
            <a:ext cx="6097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调振荡周期、给 BM3R1 promoter strength 建议、判断 degradation tag 是否需要、比较两种级联架构、识别原设计 expression-duration 缺陷并加入 shutdown、确定 oscillator-counter 的可靠耦合条件。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290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4077DEC-2E9E-8554-D552-D908FC55E859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What kind of modeling is being done and what information it will provide?</a:t>
            </a:r>
            <a:endParaRPr lang="zh-CN" alt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EFD7D8-B755-CD15-C2C5-EE0575E58129}"/>
              </a:ext>
            </a:extLst>
          </p:cNvPr>
          <p:cNvSpPr txBox="1"/>
          <p:nvPr/>
        </p:nvSpPr>
        <p:spPr>
          <a:xfrm>
            <a:off x="306845" y="1258410"/>
            <a:ext cx="6097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We developed a </a:t>
            </a:r>
            <a:r>
              <a:rPr lang="zh-CN" altLang="zh-CN" b="1" dirty="0"/>
              <a:t>multi-scale</a:t>
            </a:r>
            <a:r>
              <a:rPr lang="zh-CN" altLang="zh-CN" dirty="0"/>
              <a:t> mechanistic modeling framework for TEMPO, covering clock generation, pulse decoding, single-bit switching, multi-bit carry propagation, timed output control, and full-system coupling.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3E30A5-8EEF-1000-40AF-73AF70588B05}"/>
              </a:ext>
            </a:extLst>
          </p:cNvPr>
          <p:cNvSpPr txBox="1"/>
          <p:nvPr/>
        </p:nvSpPr>
        <p:spPr>
          <a:xfrm>
            <a:off x="112000" y="3038606"/>
            <a:ext cx="2272192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Oscillator model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ED8087-6758-EA21-3413-E381D4A583BC}"/>
              </a:ext>
            </a:extLst>
          </p:cNvPr>
          <p:cNvSpPr txBox="1"/>
          <p:nvPr/>
        </p:nvSpPr>
        <p:spPr>
          <a:xfrm>
            <a:off x="0" y="3639189"/>
            <a:ext cx="27554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period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amplitude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pulse width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parameter dependence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load effect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B8845C-0ADE-12B4-E7C0-5BC4EA7AA426}"/>
              </a:ext>
            </a:extLst>
          </p:cNvPr>
          <p:cNvSpPr txBox="1"/>
          <p:nvPr/>
        </p:nvSpPr>
        <p:spPr>
          <a:xfrm>
            <a:off x="2755474" y="3034145"/>
            <a:ext cx="2732460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Single-bit counter model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0469D5D-AF8B-A2E8-B298-739AC65E703D}"/>
              </a:ext>
            </a:extLst>
          </p:cNvPr>
          <p:cNvSpPr txBox="1"/>
          <p:nvPr/>
        </p:nvSpPr>
        <p:spPr>
          <a:xfrm>
            <a:off x="2807639" y="3639189"/>
            <a:ext cx="28014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PB/LR switching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one-pulse-one-flip condition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BM3R1/RDF suitable expression region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degradation requirement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68784A-E707-618F-AB61-F66AD8BB9BE4}"/>
              </a:ext>
            </a:extLst>
          </p:cNvPr>
          <p:cNvSpPr txBox="1"/>
          <p:nvPr/>
        </p:nvSpPr>
        <p:spPr>
          <a:xfrm>
            <a:off x="8241874" y="31839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FF4B43-3136-C735-2027-414100181FFB}"/>
              </a:ext>
            </a:extLst>
          </p:cNvPr>
          <p:cNvSpPr txBox="1"/>
          <p:nvPr/>
        </p:nvSpPr>
        <p:spPr>
          <a:xfrm>
            <a:off x="5859216" y="2594833"/>
            <a:ext cx="2146384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Cascade model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78969F-925F-23C0-5A68-BA2449C2D596}"/>
              </a:ext>
            </a:extLst>
          </p:cNvPr>
          <p:cNvSpPr txBox="1"/>
          <p:nvPr/>
        </p:nvSpPr>
        <p:spPr>
          <a:xfrm>
            <a:off x="5859216" y="3241066"/>
            <a:ext cx="2858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carry timing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false carry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multi-bit state sequence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architecture comparison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C00FBC-FFDD-84F0-8BAE-5D4407291236}"/>
              </a:ext>
            </a:extLst>
          </p:cNvPr>
          <p:cNvSpPr txBox="1"/>
          <p:nvPr/>
        </p:nvSpPr>
        <p:spPr>
          <a:xfrm>
            <a:off x="8717483" y="2590137"/>
            <a:ext cx="2223097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Shutdown model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7A1D0B6-E382-EB42-A5D5-050C4DF88687}"/>
              </a:ext>
            </a:extLst>
          </p:cNvPr>
          <p:cNvSpPr txBox="1"/>
          <p:nvPr/>
        </p:nvSpPr>
        <p:spPr>
          <a:xfrm>
            <a:off x="8717483" y="3096827"/>
            <a:ext cx="21571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expression duration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shutdown delay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controllable output window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330132-B996-A0C5-3557-4B782C52A5AC}"/>
              </a:ext>
            </a:extLst>
          </p:cNvPr>
          <p:cNvSpPr txBox="1"/>
          <p:nvPr/>
        </p:nvSpPr>
        <p:spPr>
          <a:xfrm>
            <a:off x="5920585" y="4986586"/>
            <a:ext cx="2204687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Full coupling model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11027E8-92EE-855D-E922-9DF94C63B98A}"/>
              </a:ext>
            </a:extLst>
          </p:cNvPr>
          <p:cNvSpPr txBox="1"/>
          <p:nvPr/>
        </p:nvSpPr>
        <p:spPr>
          <a:xfrm>
            <a:off x="5920585" y="5461934"/>
            <a:ext cx="3676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reliable operating region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oscillator parameter tolerance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counter robustness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26F930-3A79-E4B5-3B70-5AE24108DCFA}"/>
              </a:ext>
            </a:extLst>
          </p:cNvPr>
          <p:cNvSpPr txBox="1"/>
          <p:nvPr/>
        </p:nvSpPr>
        <p:spPr>
          <a:xfrm>
            <a:off x="7861384" y="1332691"/>
            <a:ext cx="326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Models and Outputs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6031E56-AC5B-FC68-07B5-21E58AF39F0D}"/>
              </a:ext>
            </a:extLst>
          </p:cNvPr>
          <p:cNvCxnSpPr>
            <a:cxnSpLocks/>
          </p:cNvCxnSpPr>
          <p:nvPr/>
        </p:nvCxnSpPr>
        <p:spPr>
          <a:xfrm flipH="1">
            <a:off x="8426605" y="1830401"/>
            <a:ext cx="220617" cy="402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828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D8F8-CB12-0849-A47F-47361B6C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80A0BE1-F36C-C2EE-DC74-FCD8602BFC21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What assumptions were made and why</a:t>
            </a:r>
            <a:r>
              <a:rPr lang="en-US" altLang="zh-CN" sz="2800" b="1" dirty="0"/>
              <a:t>?</a:t>
            </a:r>
            <a:endParaRPr lang="zh-CN" alt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D3BC79-E17D-8AAD-5876-34593D01E210}"/>
              </a:ext>
            </a:extLst>
          </p:cNvPr>
          <p:cNvSpPr txBox="1"/>
          <p:nvPr/>
        </p:nvSpPr>
        <p:spPr>
          <a:xfrm>
            <a:off x="306845" y="125841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每个章节都写“Assumptions &amp; Rationale”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FDA554-D4AD-1583-1F34-0169AC292F2D}"/>
              </a:ext>
            </a:extLst>
          </p:cNvPr>
          <p:cNvSpPr txBox="1"/>
          <p:nvPr/>
        </p:nvSpPr>
        <p:spPr>
          <a:xfrm>
            <a:off x="352873" y="2009836"/>
            <a:ext cx="61185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例如振荡器：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intracellular environment is well mixed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transcription and translation are represented by effective kinetic terms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degradation/dilution are modeled as first-order processes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plasmid copy number or genomic copy number is treated as fixed within a simulation</a:t>
            </a:r>
            <a:endParaRPr lang="en-US" altLang="zh-C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……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6A3943-C3DE-95DD-1224-5570C7075D3D}"/>
              </a:ext>
            </a:extLst>
          </p:cNvPr>
          <p:cNvSpPr txBox="1"/>
          <p:nvPr/>
        </p:nvSpPr>
        <p:spPr>
          <a:xfrm>
            <a:off x="438790" y="4999425"/>
            <a:ext cx="61185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These assumptions allow us to focus on the dynamic features most relevant to TEMPO — period, pulse shape, and downstream load — while keeping the model identifiable and computationally tractable.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6E419F-0669-70E5-4CAA-07E5BF859A62}"/>
              </a:ext>
            </a:extLst>
          </p:cNvPr>
          <p:cNvSpPr txBox="1"/>
          <p:nvPr/>
        </p:nvSpPr>
        <p:spPr>
          <a:xfrm>
            <a:off x="1622194" y="4406935"/>
            <a:ext cx="875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+  why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900935-35DC-4C67-7ADB-89BD6D4610CB}"/>
              </a:ext>
            </a:extLst>
          </p:cNvPr>
          <p:cNvSpPr txBox="1"/>
          <p:nvPr/>
        </p:nvSpPr>
        <p:spPr>
          <a:xfrm>
            <a:off x="7695688" y="1498934"/>
            <a:ext cx="5223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每个人写自己负责的部分</a:t>
            </a:r>
          </a:p>
        </p:txBody>
      </p:sp>
    </p:spTree>
    <p:extLst>
      <p:ext uri="{BB962C8B-B14F-4D97-AF65-F5344CB8AC3E}">
        <p14:creationId xmlns:p14="http://schemas.microsoft.com/office/powerpoint/2010/main" val="395715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7A60-43FB-1F46-8DBC-B8172763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BFFEA18-A0E4-553F-F996-4A047878E1DC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What kind of data was used to build/assess the model?</a:t>
            </a:r>
            <a:endParaRPr lang="zh-CN" alt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F09646-FFB6-A3C3-9069-A6C89BAE697A}"/>
              </a:ext>
            </a:extLst>
          </p:cNvPr>
          <p:cNvSpPr txBox="1"/>
          <p:nvPr/>
        </p:nvSpPr>
        <p:spPr>
          <a:xfrm>
            <a:off x="306845" y="1258410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A. Parameterization data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BE1A2E-63F3-764F-E909-46B50A68E05D}"/>
              </a:ext>
            </a:extLst>
          </p:cNvPr>
          <p:cNvSpPr txBox="1"/>
          <p:nvPr/>
        </p:nvSpPr>
        <p:spPr>
          <a:xfrm>
            <a:off x="296105" y="1850900"/>
            <a:ext cx="61185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dirty="0"/>
              <a:t>oscillator 原论文中的 kinetic constants</a:t>
            </a:r>
          </a:p>
          <a:p>
            <a:pPr lvl="0"/>
            <a:r>
              <a:rPr lang="zh-CN" altLang="zh-CN" dirty="0"/>
              <a:t>integrase/RDF 文献动力学</a:t>
            </a:r>
          </a:p>
          <a:p>
            <a:pPr lvl="0"/>
            <a:r>
              <a:rPr lang="zh-CN" altLang="zh-CN" dirty="0"/>
              <a:t>BM3R1 experimentally characterized response curves</a:t>
            </a:r>
          </a:p>
          <a:p>
            <a:pPr lvl="0"/>
            <a:r>
              <a:rPr lang="zh-CN" altLang="zh-CN" dirty="0"/>
              <a:t>degradation constants</a:t>
            </a:r>
          </a:p>
          <a:p>
            <a:pPr lvl="0"/>
            <a:r>
              <a:rPr lang="zh-CN" altLang="zh-CN" dirty="0"/>
              <a:t>promoter strength data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FC37DD-AB30-BB50-318E-7D3225D7209F}"/>
              </a:ext>
            </a:extLst>
          </p:cNvPr>
          <p:cNvSpPr txBox="1"/>
          <p:nvPr/>
        </p:nvSpPr>
        <p:spPr>
          <a:xfrm>
            <a:off x="447994" y="4423564"/>
            <a:ext cx="6118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C. Independent assessment data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766FBA-7CB2-49E8-AF8F-0C0D629A3381}"/>
              </a:ext>
            </a:extLst>
          </p:cNvPr>
          <p:cNvSpPr txBox="1"/>
          <p:nvPr/>
        </p:nvSpPr>
        <p:spPr>
          <a:xfrm>
            <a:off x="6204417" y="1230484"/>
            <a:ext cx="4122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B. Benchmarking / reproduction data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D54C06-D0CA-EC39-94A6-EC946E71B935}"/>
              </a:ext>
            </a:extLst>
          </p:cNvPr>
          <p:cNvSpPr txBox="1"/>
          <p:nvPr/>
        </p:nvSpPr>
        <p:spPr>
          <a:xfrm>
            <a:off x="6218225" y="1800668"/>
            <a:ext cx="5677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先复现已有系统</a:t>
            </a:r>
            <a:r>
              <a:rPr lang="zh-CN" altLang="en-US" dirty="0"/>
              <a:t>：</a:t>
            </a:r>
            <a:r>
              <a:rPr lang="zh-CN" altLang="zh-CN" dirty="0"/>
              <a:t>We first reproduced the published oscillatory behavior / switching behavior before extending the model to TEMPO.</a:t>
            </a:r>
            <a:endParaRPr lang="en-US" altLang="zh-CN" dirty="0"/>
          </a:p>
          <a:p>
            <a:r>
              <a:rPr lang="zh-CN" altLang="zh-CN" dirty="0"/>
              <a:t>说明</a:t>
            </a:r>
            <a:r>
              <a:rPr lang="zh-CN" altLang="en-US" dirty="0"/>
              <a:t>不是</a:t>
            </a:r>
            <a:r>
              <a:rPr lang="zh-CN" altLang="zh-CN" dirty="0"/>
              <a:t>从零乱</a:t>
            </a:r>
            <a:r>
              <a:rPr lang="zh-CN" altLang="en-US" dirty="0"/>
              <a:t>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7A4A01-C9C3-6861-19F1-5426EE4AC882}"/>
              </a:ext>
            </a:extLst>
          </p:cNvPr>
          <p:cNvSpPr txBox="1"/>
          <p:nvPr/>
        </p:nvSpPr>
        <p:spPr>
          <a:xfrm>
            <a:off x="447994" y="5054495"/>
            <a:ext cx="4038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能拿来比较的文献数据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874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E1039-8DAD-88DA-7D0B-1BB316F5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84D402D-C6D8-6015-EDA2-7016D75C1644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How did model results affect the project design and development?</a:t>
            </a:r>
            <a:endParaRPr lang="zh-CN" altLang="en-US" sz="2800" b="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3BC785-2678-E24A-DC90-E10C238E7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53025"/>
              </p:ext>
            </p:extLst>
          </p:nvPr>
        </p:nvGraphicFramePr>
        <p:xfrm>
          <a:off x="623408" y="1403232"/>
          <a:ext cx="1051560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104016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24817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Modeling finding</a:t>
                      </a: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Design consequence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0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Oscillator period is </a:t>
                      </a:r>
                      <a:r>
                        <a:rPr lang="zh-CN" b="1" dirty="0"/>
                        <a:t>sensitive to specific parameters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Identified </a:t>
                      </a:r>
                      <a:r>
                        <a:rPr lang="zh-CN" b="1" dirty="0"/>
                        <a:t>tunable</a:t>
                      </a:r>
                      <a:r>
                        <a:rPr lang="zh-CN" dirty="0"/>
                        <a:t> clock 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928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Real oscillator pulse</a:t>
                      </a:r>
                      <a:r>
                        <a:rPr lang="zh-CN" dirty="0"/>
                        <a:t>s differ from ideal square waves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Used simulated biological waveform as </a:t>
                      </a:r>
                      <a:r>
                        <a:rPr lang="zh-CN" b="1" dirty="0"/>
                        <a:t>counter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21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BM3R1 expression strongly affects switching window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Recommended </a:t>
                      </a:r>
                      <a:r>
                        <a:rPr lang="zh-CN" b="1" dirty="0"/>
                        <a:t>promoter strength 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151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Protein persistence can </a:t>
                      </a:r>
                      <a:r>
                        <a:rPr lang="zh-CN" b="1" dirty="0"/>
                        <a:t>impair</a:t>
                      </a:r>
                      <a:r>
                        <a:rPr lang="zh-CN" dirty="0"/>
                        <a:t> subsequent switching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Evaluated need for </a:t>
                      </a:r>
                      <a:r>
                        <a:rPr lang="zh-CN" b="1" dirty="0"/>
                        <a:t>degradation tags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29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Carry propagation differs between two mechanisms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1" dirty="0"/>
                        <a:t>Compared and selected</a:t>
                      </a:r>
                      <a:r>
                        <a:rPr lang="zh-CN" dirty="0"/>
                        <a:t>/scoped cascade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78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Original output design causes </a:t>
                      </a:r>
                      <a:r>
                        <a:rPr lang="zh-CN" b="1" dirty="0"/>
                        <a:t>overly long </a:t>
                      </a:r>
                      <a:r>
                        <a:rPr lang="zh-CN" dirty="0"/>
                        <a:t>expression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Added </a:t>
                      </a:r>
                      <a:r>
                        <a:rPr lang="zh-CN" b="1" dirty="0"/>
                        <a:t>shutdown</a:t>
                      </a:r>
                      <a:r>
                        <a:rPr lang="zh-CN" dirty="0"/>
                        <a:t>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35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Shutdown timing depends on regulatory parameters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Tuned expression 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49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Counter load perturbs oscillator dynamics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Incorporated </a:t>
                      </a:r>
                      <a:r>
                        <a:rPr lang="zh-CN" b="1" dirty="0"/>
                        <a:t>load-aware</a:t>
                      </a:r>
                      <a:r>
                        <a:rPr lang="zh-CN" dirty="0"/>
                        <a:t> oscillator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754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Only part of pulse-parameter space gives reliable counting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Defined TEMPO </a:t>
                      </a:r>
                      <a:r>
                        <a:rPr lang="zh-CN" b="1" dirty="0"/>
                        <a:t>operating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169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4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EEE58DF-0D39-0B9B-8D47-DAC54493B6F4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How impressive is the modeling?</a:t>
            </a:r>
            <a:endParaRPr lang="zh-CN" altLang="en-US" sz="2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65DF18-033A-C117-EE3A-C1347AE8EBE3}"/>
              </a:ext>
            </a:extLst>
          </p:cNvPr>
          <p:cNvSpPr txBox="1"/>
          <p:nvPr/>
        </p:nvSpPr>
        <p:spPr>
          <a:xfrm>
            <a:off x="616760" y="1460026"/>
            <a:ext cx="1800492" cy="3693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第一：跨度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0F6337-7C65-B31B-CC43-CD33DBD4AE64}"/>
              </a:ext>
            </a:extLst>
          </p:cNvPr>
          <p:cNvSpPr txBox="1"/>
          <p:nvPr/>
        </p:nvSpPr>
        <p:spPr>
          <a:xfrm>
            <a:off x="2844459" y="1367693"/>
            <a:ext cx="91409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覆盖：</a:t>
            </a:r>
          </a:p>
          <a:p>
            <a:pPr>
              <a:buNone/>
            </a:pPr>
            <a:r>
              <a:rPr lang="zh-CN" altLang="zh-CN" b="1" dirty="0"/>
              <a:t>molecular regulation → DNA switching → multi-bit logic → system coupling → timed output</a:t>
            </a:r>
            <a:endParaRPr lang="zh-CN" altLang="zh-CN" dirty="0"/>
          </a:p>
          <a:p>
            <a:pPr>
              <a:buNone/>
            </a:pPr>
            <a:r>
              <a:rPr lang="zh-CN" altLang="zh-CN" dirty="0"/>
              <a:t>不是一个局部模型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CACB4A-FB6E-5D52-BCA3-315BD38550DD}"/>
              </a:ext>
            </a:extLst>
          </p:cNvPr>
          <p:cNvSpPr txBox="1"/>
          <p:nvPr/>
        </p:nvSpPr>
        <p:spPr>
          <a:xfrm>
            <a:off x="616760" y="3059668"/>
            <a:ext cx="180049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zh-CN" dirty="0"/>
              <a:t>第二：集成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874572-EFB5-516F-F43A-8F96372D188A}"/>
                  </a:ext>
                </a:extLst>
              </p:cNvPr>
              <p:cNvSpPr txBox="1"/>
              <p:nvPr/>
            </p:nvSpPr>
            <p:spPr>
              <a:xfrm>
                <a:off x="2844459" y="2967335"/>
                <a:ext cx="611850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zh-CN" dirty="0"/>
                  <a:t>关键不是每个模型复杂，而是：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𝑂𝑠𝑐𝑖𝑙𝑙𝑎𝑡𝑜𝑟</m:t>
                      </m:r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𝑊𝑎𝑣𝑒𝑓𝑜𝑟𝑚</m:t>
                      </m:r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𝐶𝑜𝑢𝑛𝑡𝑒𝑟</m:t>
                      </m:r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𝐶𝑎𝑠𝑐𝑎𝑑𝑒</m:t>
                      </m:r>
                      <m:r>
                        <a:rPr lang="en-US" altLang="zh-CN" i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buNone/>
                </a:pPr>
                <a:r>
                  <a:rPr lang="zh-CN" altLang="zh-CN" dirty="0"/>
                  <a:t>前一个模型的输出成为后一个模型的输入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4874572-EFB5-516F-F43A-8F96372D1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4459" y="2967335"/>
                <a:ext cx="6118502" cy="923330"/>
              </a:xfrm>
              <a:prstGeom prst="rect">
                <a:avLst/>
              </a:prstGeom>
              <a:blipFill>
                <a:blip r:embed="rId2"/>
                <a:stretch>
                  <a:fillRect l="-897" t="-4636" b="-92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E24BE96A-943E-94ED-91F8-D56BDCC1AEF8}"/>
              </a:ext>
            </a:extLst>
          </p:cNvPr>
          <p:cNvSpPr txBox="1"/>
          <p:nvPr/>
        </p:nvSpPr>
        <p:spPr>
          <a:xfrm>
            <a:off x="616760" y="5213308"/>
            <a:ext cx="180049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zh-CN" dirty="0"/>
              <a:t>第三：工程用途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2A2520-C8BF-D053-8082-BDEDBB465DC8}"/>
              </a:ext>
            </a:extLst>
          </p:cNvPr>
          <p:cNvSpPr txBox="1"/>
          <p:nvPr/>
        </p:nvSpPr>
        <p:spPr>
          <a:xfrm>
            <a:off x="2844459" y="4768796"/>
            <a:ext cx="61185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不是拟合曲线，而是做：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parameter selection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architecture selection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failure diagnosis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redesign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operating-window determination</a:t>
            </a:r>
          </a:p>
        </p:txBody>
      </p:sp>
    </p:spTree>
    <p:extLst>
      <p:ext uri="{BB962C8B-B14F-4D97-AF65-F5344CB8AC3E}">
        <p14:creationId xmlns:p14="http://schemas.microsoft.com/office/powerpoint/2010/main" val="65006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AA39-7699-6C1B-83C2-0821E27C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FE127BFE-F2DE-6E42-332C-0A9A26DF8F74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Did the model help the team understand a part, device, or system?</a:t>
            </a:r>
            <a:endParaRPr lang="zh-CN" altLang="en-US" sz="2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CC4415-21B9-4361-B56A-F8DF4D1588B4}"/>
              </a:ext>
            </a:extLst>
          </p:cNvPr>
          <p:cNvSpPr txBox="1"/>
          <p:nvPr/>
        </p:nvSpPr>
        <p:spPr>
          <a:xfrm>
            <a:off x="616760" y="1460026"/>
            <a:ext cx="1368708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b="1" dirty="0"/>
              <a:t>Part level</a:t>
            </a:r>
            <a:endParaRPr lang="zh-CN" altLang="en-US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558BF8-694B-CC8B-90C1-7D965BB634B0}"/>
              </a:ext>
            </a:extLst>
          </p:cNvPr>
          <p:cNvSpPr txBox="1"/>
          <p:nvPr/>
        </p:nvSpPr>
        <p:spPr>
          <a:xfrm>
            <a:off x="2973333" y="1460026"/>
            <a:ext cx="3869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BM3R1 / RDF / degradation behavior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2D91F4-688E-D39A-CF51-2B728CD27CEB}"/>
              </a:ext>
            </a:extLst>
          </p:cNvPr>
          <p:cNvSpPr txBox="1"/>
          <p:nvPr/>
        </p:nvSpPr>
        <p:spPr>
          <a:xfrm>
            <a:off x="616760" y="3336667"/>
            <a:ext cx="1368708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zh-CN" b="1" dirty="0"/>
              <a:t>Device level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BCDA4E-14E9-B47A-8CF0-D45073BD7B5D}"/>
              </a:ext>
            </a:extLst>
          </p:cNvPr>
          <p:cNvSpPr txBox="1"/>
          <p:nvPr/>
        </p:nvSpPr>
        <p:spPr>
          <a:xfrm>
            <a:off x="2887416" y="3327182"/>
            <a:ext cx="6118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oscillator、single-bit recombinase switch、shutdown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F095A6-273A-D931-0E98-54D2FF363D92}"/>
              </a:ext>
            </a:extLst>
          </p:cNvPr>
          <p:cNvSpPr txBox="1"/>
          <p:nvPr/>
        </p:nvSpPr>
        <p:spPr>
          <a:xfrm>
            <a:off x="665855" y="5213308"/>
            <a:ext cx="1368708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zh-CN" b="1" dirty="0"/>
              <a:t>System level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86AF04-5584-FDAB-41B0-E8D54E5C051E}"/>
              </a:ext>
            </a:extLst>
          </p:cNvPr>
          <p:cNvSpPr txBox="1"/>
          <p:nvPr/>
        </p:nvSpPr>
        <p:spPr>
          <a:xfrm>
            <a:off x="2973333" y="5194338"/>
            <a:ext cx="6118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dirty="0"/>
              <a:t>oscillator-counter coupling、binary cascade</a:t>
            </a:r>
          </a:p>
        </p:txBody>
      </p:sp>
    </p:spTree>
    <p:extLst>
      <p:ext uri="{BB962C8B-B14F-4D97-AF65-F5344CB8AC3E}">
        <p14:creationId xmlns:p14="http://schemas.microsoft.com/office/powerpoint/2010/main" val="34113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FC0C-1DC0-969A-7920-A8BE08B35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8794AF6-A2D1-6575-CFE2-77A805F860BF}"/>
              </a:ext>
            </a:extLst>
          </p:cNvPr>
          <p:cNvSpPr txBox="1"/>
          <p:nvPr/>
        </p:nvSpPr>
        <p:spPr>
          <a:xfrm>
            <a:off x="282297" y="506063"/>
            <a:ext cx="11956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Did the team use measurements of a part, device, or system to develop the model?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FC4457-3839-0C5C-B7A1-995ADAC119F3}"/>
              </a:ext>
            </a:extLst>
          </p:cNvPr>
          <p:cNvSpPr txBox="1"/>
          <p:nvPr/>
        </p:nvSpPr>
        <p:spPr>
          <a:xfrm>
            <a:off x="653580" y="1959836"/>
            <a:ext cx="6118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现在我们好像确实没有什么实验支撑。。</a:t>
            </a:r>
            <a:endParaRPr lang="zh-C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01A994-6912-7CCA-EDFE-C8717C324068}"/>
              </a:ext>
            </a:extLst>
          </p:cNvPr>
          <p:cNvSpPr txBox="1"/>
          <p:nvPr/>
        </p:nvSpPr>
        <p:spPr>
          <a:xfrm>
            <a:off x="653580" y="2828835"/>
            <a:ext cx="9441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Our models were grounded in </a:t>
            </a:r>
            <a:r>
              <a:rPr lang="zh-CN" altLang="zh-CN" b="1" dirty="0"/>
              <a:t>published experimental measurements</a:t>
            </a:r>
            <a:r>
              <a:rPr lang="zh-CN" altLang="zh-CN" dirty="0"/>
              <a:t> of the oscillator, recombinase systems, repressors, and degradation kinetics. Where available, our own experimental measurements were used for additional comparison, while system-level predictions were assessed through literature benchmarking, sensitivity analysis, and robustness testing.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11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826B-3D93-4A13-CB28-EB319890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264006B-B1C0-FBF7-9CDB-D5A115EBF3F2}"/>
              </a:ext>
            </a:extLst>
          </p:cNvPr>
          <p:cNvSpPr txBox="1"/>
          <p:nvPr/>
        </p:nvSpPr>
        <p:spPr>
          <a:xfrm>
            <a:off x="282297" y="506063"/>
            <a:ext cx="1195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/>
              <a:t>Does the modeling approach provide a good example for others?</a:t>
            </a:r>
            <a:endParaRPr lang="zh-CN" altLang="en-US" sz="28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F269E7-D2AE-CCDB-A53E-D3EFE8BD754A}"/>
              </a:ext>
            </a:extLst>
          </p:cNvPr>
          <p:cNvSpPr txBox="1"/>
          <p:nvPr/>
        </p:nvSpPr>
        <p:spPr>
          <a:xfrm>
            <a:off x="359009" y="2601348"/>
            <a:ext cx="61185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Other teams can </a:t>
            </a:r>
            <a:r>
              <a:rPr lang="zh-CN" altLang="zh-CN" b="1" dirty="0"/>
              <a:t>reuse</a:t>
            </a:r>
            <a:r>
              <a:rPr lang="zh-CN" altLang="zh-CN" dirty="0"/>
              <a:t> our framework by replacing: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oscillator parameters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repressor transfer functions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recombinase kinetics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pulse input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desired counting depth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543243-DB87-628C-1993-C1CE9EF796D3}"/>
              </a:ext>
            </a:extLst>
          </p:cNvPr>
          <p:cNvSpPr txBox="1"/>
          <p:nvPr/>
        </p:nvSpPr>
        <p:spPr>
          <a:xfrm>
            <a:off x="7996396" y="2428677"/>
            <a:ext cx="34520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代码开源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README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parameter tables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clear model diagrams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reusable input interface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standard waveform CSV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one-click simulation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example parameter sets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2C8F142-3E0A-D7AB-5ECC-5329D8AD3342}"/>
              </a:ext>
            </a:extLst>
          </p:cNvPr>
          <p:cNvCxnSpPr/>
          <p:nvPr/>
        </p:nvCxnSpPr>
        <p:spPr>
          <a:xfrm>
            <a:off x="5523222" y="3429000"/>
            <a:ext cx="1755157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6133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6041</Words>
  <Application>Microsoft Office PowerPoint</Application>
  <PresentationFormat>宽屏</PresentationFormat>
  <Paragraphs>182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3332464630@qq.com</cp:lastModifiedBy>
  <cp:revision>11</cp:revision>
  <dcterms:created xsi:type="dcterms:W3CDTF">2023-08-09T12:44:00Z</dcterms:created>
  <dcterms:modified xsi:type="dcterms:W3CDTF">2026-09-11T07:39:17Z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