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59" r:id="rId3"/>
    <p:sldId id="257" r:id="rId4"/>
    <p:sldId id="258" r:id="rId5"/>
    <p:sldId id="25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FE2875D-C0A0-AD54-E1C2-D9C12FAAF69F}"/>
              </a:ext>
            </a:extLst>
          </p:cNvPr>
          <p:cNvCxnSpPr/>
          <p:nvPr/>
        </p:nvCxnSpPr>
        <p:spPr>
          <a:xfrm>
            <a:off x="319889" y="2136618"/>
            <a:ext cx="11552222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13F5B9E2-0792-FB4E-0686-3FD9EDDF22B1}"/>
              </a:ext>
            </a:extLst>
          </p:cNvPr>
          <p:cNvSpPr/>
          <p:nvPr/>
        </p:nvSpPr>
        <p:spPr>
          <a:xfrm>
            <a:off x="1121127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41450B-32DB-550D-3664-8CF75473837B}"/>
              </a:ext>
            </a:extLst>
          </p:cNvPr>
          <p:cNvSpPr txBox="1"/>
          <p:nvPr/>
        </p:nvSpPr>
        <p:spPr>
          <a:xfrm>
            <a:off x="169753" y="137253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16–18</a:t>
            </a:r>
            <a:r>
              <a:rPr lang="zh-CN" altLang="en-US" dirty="0"/>
              <a:t>日左右，组会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B5D784F-C0D7-826A-746E-8AB419339E6D}"/>
              </a:ext>
            </a:extLst>
          </p:cNvPr>
          <p:cNvSpPr/>
          <p:nvPr/>
        </p:nvSpPr>
        <p:spPr>
          <a:xfrm>
            <a:off x="4813806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2FC3D9-D2DA-77A1-EFD6-3651B4E6C34C}"/>
              </a:ext>
            </a:extLst>
          </p:cNvPr>
          <p:cNvSpPr txBox="1"/>
          <p:nvPr/>
        </p:nvSpPr>
        <p:spPr>
          <a:xfrm>
            <a:off x="4142707" y="1372530"/>
            <a:ext cx="1577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9月28–30日</a:t>
            </a: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1FE4D73-3CC1-A9F0-BD0A-A26F40663650}"/>
              </a:ext>
            </a:extLst>
          </p:cNvPr>
          <p:cNvSpPr/>
          <p:nvPr/>
        </p:nvSpPr>
        <p:spPr>
          <a:xfrm>
            <a:off x="7111503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20B66D5-84CA-FBF6-01A8-7834BD64E122}"/>
              </a:ext>
            </a:extLst>
          </p:cNvPr>
          <p:cNvSpPr txBox="1"/>
          <p:nvPr/>
        </p:nvSpPr>
        <p:spPr>
          <a:xfrm>
            <a:off x="6633928" y="1372530"/>
            <a:ext cx="132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10月7日</a:t>
            </a:r>
            <a:endParaRPr lang="zh-CN" altLang="en-US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D935370-1987-1B7B-1066-B1361F411058}"/>
              </a:ext>
            </a:extLst>
          </p:cNvPr>
          <p:cNvSpPr/>
          <p:nvPr/>
        </p:nvSpPr>
        <p:spPr>
          <a:xfrm>
            <a:off x="10129331" y="2077776"/>
            <a:ext cx="117684" cy="1176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2B3C11-F1E2-B798-4543-C013C89E107F}"/>
              </a:ext>
            </a:extLst>
          </p:cNvPr>
          <p:cNvSpPr txBox="1"/>
          <p:nvPr/>
        </p:nvSpPr>
        <p:spPr>
          <a:xfrm>
            <a:off x="9370708" y="1372530"/>
            <a:ext cx="1659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10月11–12日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A06D3F-0EED-9ED7-A5DA-71D69A494AAA}"/>
              </a:ext>
            </a:extLst>
          </p:cNvPr>
          <p:cNvSpPr txBox="1"/>
          <p:nvPr/>
        </p:nvSpPr>
        <p:spPr>
          <a:xfrm>
            <a:off x="319889" y="2590216"/>
            <a:ext cx="28880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定 Wiki 总框架 + 每个人的叙事任务</a:t>
            </a:r>
            <a:r>
              <a:rPr lang="zh-CN" altLang="zh-CN" dirty="0"/>
              <a:t>。不要求模型完成，但每个人必须说清楚：自己的模型回答什么问题、目前有什么结果、最后要形成什么 design consequence。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FF5C54-9DFE-794E-DCD9-E2A8DA393031}"/>
              </a:ext>
            </a:extLst>
          </p:cNvPr>
          <p:cNvSpPr txBox="1"/>
          <p:nvPr/>
        </p:nvSpPr>
        <p:spPr>
          <a:xfrm>
            <a:off x="0" y="4752400"/>
            <a:ext cx="38680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1400" dirty="0"/>
              <a:t>在这之前完成</a:t>
            </a:r>
            <a:endParaRPr lang="en-US" altLang="zh-C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400" dirty="0"/>
              <a:t>自己模块目前已有的核心结果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400" dirty="0"/>
              <a:t>自己负责的 Wiki 小节 </a:t>
            </a:r>
            <a:endParaRPr lang="en-US" altLang="zh-C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自己设想的框架</a:t>
            </a:r>
            <a:endParaRPr lang="zh-CN" altLang="zh-C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400" dirty="0"/>
              <a:t>自己模块需要画的</a:t>
            </a:r>
            <a:r>
              <a:rPr lang="zh-CN" altLang="zh-CN" sz="1400" b="1" dirty="0"/>
              <a:t>机制图草稿/文字说明</a:t>
            </a:r>
            <a:r>
              <a:rPr lang="zh-CN" altLang="zh-C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400" dirty="0"/>
              <a:t>自己模块对应的 </a:t>
            </a:r>
            <a:r>
              <a:rPr lang="zh-CN" altLang="zh-CN" sz="1400" b="1" dirty="0"/>
              <a:t>Engineering cycle 素材</a:t>
            </a:r>
            <a:endParaRPr lang="zh-CN" altLang="zh-CN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0D2BFF2-18A8-5D45-CE15-2965E3FF5F07}"/>
              </a:ext>
            </a:extLst>
          </p:cNvPr>
          <p:cNvSpPr txBox="1"/>
          <p:nvPr/>
        </p:nvSpPr>
        <p:spPr>
          <a:xfrm>
            <a:off x="3590451" y="2390375"/>
            <a:ext cx="24467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主体模型和核心结论基本冻结</a:t>
            </a:r>
            <a:r>
              <a:rPr lang="zh-CN" altLang="zh-CN" dirty="0"/>
              <a:t>。不是所有补充分析都结束，而是 Wiki 中“Modeling finding → Design consequence”这一层必须基本确定。图、参数、公式、参考文献也开始整理。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43B7F0-A1DE-9275-05C2-EBBE7354E674}"/>
              </a:ext>
            </a:extLst>
          </p:cNvPr>
          <p:cNvSpPr txBox="1"/>
          <p:nvPr/>
        </p:nvSpPr>
        <p:spPr>
          <a:xfrm>
            <a:off x="6214067" y="2390375"/>
            <a:ext cx="20302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国庆集中写作结束，Wiki 主体初稿完成</a:t>
            </a:r>
            <a:r>
              <a:rPr lang="zh-CN" altLang="zh-CN" dirty="0"/>
              <a:t>。各模块形成完整文字和图片，尤其必须把 assumptions、data source、model result 如何改变设计写进去。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B20970C-362A-A0B1-44A5-3F1203102D83}"/>
              </a:ext>
            </a:extLst>
          </p:cNvPr>
          <p:cNvSpPr txBox="1"/>
          <p:nvPr/>
        </p:nvSpPr>
        <p:spPr>
          <a:xfrm>
            <a:off x="8991983" y="2390375"/>
            <a:ext cx="28801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Best Model 导向的总修改完成</a:t>
            </a:r>
            <a:r>
              <a:rPr lang="zh-CN" altLang="zh-CN" dirty="0"/>
              <a:t>。把各模块从“个人工作报告”重新串成一条完整的 TEMPO engineering story，统一图、术语、参数和结论，之后只留网页适配和小修。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3261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DD94B38-46C6-47D0-0138-0A62CFAC56A1}"/>
              </a:ext>
            </a:extLst>
          </p:cNvPr>
          <p:cNvSpPr txBox="1"/>
          <p:nvPr/>
        </p:nvSpPr>
        <p:spPr>
          <a:xfrm>
            <a:off x="963029" y="1517803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随机 A→B 配对周期成功率为 50.0% 和 60.7%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19A406-43FE-A4F4-63B0-28FA65830E86}"/>
              </a:ext>
            </a:extLst>
          </p:cNvPr>
          <p:cNvSpPr txBox="1"/>
          <p:nvPr/>
        </p:nvSpPr>
        <p:spPr>
          <a:xfrm>
            <a:off x="963029" y="713692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停止推进染色体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B99ED6-98E7-00BE-D690-343B7949B5FB}"/>
              </a:ext>
            </a:extLst>
          </p:cNvPr>
          <p:cNvSpPr txBox="1"/>
          <p:nvPr/>
        </p:nvSpPr>
        <p:spPr>
          <a:xfrm>
            <a:off x="963029" y="2813203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C31 degradation tag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407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3C5DE6E-9183-DDBF-7DB2-17C279CE6C71}"/>
              </a:ext>
            </a:extLst>
          </p:cNvPr>
          <p:cNvSpPr txBox="1"/>
          <p:nvPr/>
        </p:nvSpPr>
        <p:spPr>
          <a:xfrm>
            <a:off x="523494" y="331971"/>
            <a:ext cx="6681978" cy="272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/>
              <a:t>前馈环组为了改善三级级联，改动了 single-bit 的 Repressor–RDF 核心参数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zh-CN" dirty="0"/>
              <a:t>另一组也没有使用原始统一底盘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zh-CN" dirty="0"/>
              <a:t>也就是说，两边都在各自优化 single-bit，只是优化的位置不同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zh-CN" b="1" dirty="0"/>
              <a:t>因此现在不能直接拿两边的最终三级成功率比较并说“某种级联更好”。</a:t>
            </a:r>
            <a:r>
              <a:rPr lang="zh-CN" altLang="zh-CN" dirty="0"/>
              <a:t> 因为差异可能来自 carry architecture，也可能来自 single-bit 参数、模型细化程度甚至优化策略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zh-CN" b="1" dirty="0"/>
              <a:t>强行统一一套参数后，两种机制可能都会表现很差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BF9974-BD07-2CD6-1F99-D2B54C75EB45}"/>
              </a:ext>
            </a:extLst>
          </p:cNvPr>
          <p:cNvSpPr txBox="1"/>
          <p:nvPr/>
        </p:nvSpPr>
        <p:spPr>
          <a:xfrm>
            <a:off x="395195" y="3600012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zh-CN" b="1" dirty="0"/>
              <a:t>统一底盘</a:t>
            </a:r>
            <a:r>
              <a:rPr lang="zh-CN" altLang="zh-CN" dirty="0"/>
              <a:t>的公平 baseline comparison</a:t>
            </a:r>
            <a:endParaRPr lang="en-US" altLang="zh-CN" dirty="0"/>
          </a:p>
          <a:p>
            <a:r>
              <a:rPr lang="zh-CN" altLang="zh-CN" dirty="0"/>
              <a:t>选择一套共同 single-bit core ，让两种级联都在同样条件下运行</a:t>
            </a:r>
            <a:endParaRPr lang="en-US" altLang="zh-CN" dirty="0"/>
          </a:p>
          <a:p>
            <a:r>
              <a:rPr lang="zh-CN" altLang="zh-CN" dirty="0"/>
              <a:t>即使结果两边都很差，也如实展示</a:t>
            </a:r>
            <a:endParaRPr lang="en-US" altLang="zh-CN" dirty="0"/>
          </a:p>
          <a:p>
            <a:r>
              <a:rPr lang="zh-CN" altLang="en-US" b="1" dirty="0"/>
              <a:t>就当是这个问题的回答：</a:t>
            </a:r>
            <a:endParaRPr lang="en-US" altLang="zh-CN" b="1" dirty="0"/>
          </a:p>
          <a:p>
            <a:r>
              <a:rPr lang="zh-CN" altLang="zh-CN" b="1" dirty="0"/>
              <a:t>两种 carry architecture 在不重新调底层参数的情况下，能否作为</a:t>
            </a:r>
            <a:r>
              <a:rPr lang="zh-CN" altLang="en-US" b="1" dirty="0"/>
              <a:t>即插即用的</a:t>
            </a:r>
            <a:r>
              <a:rPr lang="zh-CN" altLang="zh-CN" b="1" dirty="0"/>
              <a:t>模块直接接入同一计数器？</a:t>
            </a:r>
            <a:endParaRPr lang="zh-CN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17565C-81E8-54A7-74C7-FBF56D790AD5}"/>
              </a:ext>
            </a:extLst>
          </p:cNvPr>
          <p:cNvSpPr txBox="1"/>
          <p:nvPr/>
        </p:nvSpPr>
        <p:spPr>
          <a:xfrm>
            <a:off x="7051251" y="379797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zh-CN" dirty="0"/>
              <a:t>分别寻找</a:t>
            </a:r>
            <a:r>
              <a:rPr lang="zh-CN" altLang="zh-CN" b="1" dirty="0"/>
              <a:t>各自的可行参数区域</a:t>
            </a:r>
            <a:endParaRPr lang="en-US" altLang="zh-CN" b="1" dirty="0"/>
          </a:p>
          <a:p>
            <a:r>
              <a:rPr lang="zh-CN" altLang="zh-CN" dirty="0"/>
              <a:t>什么参数条件下 FFL 可以工作？什么参数条件下</a:t>
            </a:r>
            <a:r>
              <a:rPr lang="zh-CN" altLang="en-US" dirty="0"/>
              <a:t>游离重组酶</a:t>
            </a:r>
            <a:r>
              <a:rPr lang="zh-CN" altLang="zh-CN" dirty="0"/>
              <a:t>可以工作？</a:t>
            </a:r>
            <a:endParaRPr lang="en-US" altLang="zh-CN" dirty="0"/>
          </a:p>
          <a:p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8E1EE3-24B0-6C6D-124B-549F3B070AC9}"/>
              </a:ext>
            </a:extLst>
          </p:cNvPr>
          <p:cNvSpPr txBox="1"/>
          <p:nvPr/>
        </p:nvSpPr>
        <p:spPr>
          <a:xfrm>
            <a:off x="6968765" y="5366921"/>
            <a:ext cx="1345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谁比谁好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77F0E95-65FA-1350-5570-574D61CF94C8}"/>
              </a:ext>
            </a:extLst>
          </p:cNvPr>
          <p:cNvCxnSpPr>
            <a:cxnSpLocks/>
          </p:cNvCxnSpPr>
          <p:nvPr/>
        </p:nvCxnSpPr>
        <p:spPr>
          <a:xfrm>
            <a:off x="6693031" y="5542961"/>
            <a:ext cx="1753385" cy="862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DD4825D-5872-B163-9345-E830920FFFAA}"/>
              </a:ext>
            </a:extLst>
          </p:cNvPr>
          <p:cNvSpPr txBox="1"/>
          <p:nvPr/>
        </p:nvSpPr>
        <p:spPr>
          <a:xfrm>
            <a:off x="8793535" y="5366921"/>
            <a:ext cx="344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不同级联机制适用于不同条件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935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2B13-2E1C-B4D9-9229-D077B33C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D0AA8EC6-6347-D35A-4B3D-7D308398763B}"/>
              </a:ext>
            </a:extLst>
          </p:cNvPr>
          <p:cNvSpPr txBox="1"/>
          <p:nvPr/>
        </p:nvSpPr>
        <p:spPr>
          <a:xfrm>
            <a:off x="368213" y="234412"/>
            <a:ext cx="48284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游离重组酶的 </a:t>
            </a:r>
            <a:r>
              <a:rPr lang="en-US" altLang="zh-CN" dirty="0"/>
              <a:t>Carry pulse </a:t>
            </a:r>
            <a:r>
              <a:rPr lang="zh-CN" altLang="en-US" dirty="0"/>
              <a:t>的生物学基础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现在还只是</a:t>
            </a:r>
            <a:r>
              <a:rPr lang="zh-CN" altLang="zh-CN" dirty="0"/>
              <a:t>数学上的触发机制，不是具体的生物学实现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E84016-78E5-60C3-9247-AB7DA9E57DEE}"/>
              </a:ext>
            </a:extLst>
          </p:cNvPr>
          <p:cNvSpPr txBox="1"/>
          <p:nvPr/>
        </p:nvSpPr>
        <p:spPr>
          <a:xfrm>
            <a:off x="643947" y="1562175"/>
            <a:ext cx="10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FFL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156CD5D-2027-E06E-DFF5-064903E898AB}"/>
              </a:ext>
            </a:extLst>
          </p:cNvPr>
          <p:cNvCxnSpPr>
            <a:cxnSpLocks/>
          </p:cNvCxnSpPr>
          <p:nvPr/>
        </p:nvCxnSpPr>
        <p:spPr>
          <a:xfrm>
            <a:off x="431587" y="1733717"/>
            <a:ext cx="81384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C41817-DD31-4CF6-BECD-86ABF3F75F9B}"/>
                  </a:ext>
                </a:extLst>
              </p:cNvPr>
              <p:cNvSpPr txBox="1"/>
              <p:nvPr/>
            </p:nvSpPr>
            <p:spPr>
              <a:xfrm>
                <a:off x="368213" y="2103049"/>
                <a:ext cx="5308310" cy="2318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dirty="0"/>
                  <a:t>预装载 mRNA + RNA 开锁</a:t>
                </a:r>
                <a:endParaRPr lang="en-US" altLang="zh-CN" dirty="0"/>
              </a:p>
              <a:p>
                <a:r>
                  <a:rPr lang="en-US" altLang="zh-CN" dirty="0"/>
                  <a:t>LR</a:t>
                </a:r>
                <a:r>
                  <a:rPr lang="zh-CN" altLang="en-US" dirty="0"/>
                  <a:t>状态：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𝑚𝑅𝑁</m:t>
                    </m:r>
                    <m:sSubSup>
                      <m:sSubSup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𝐼𝑛𝑡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𝑂𝐹𝐹</m:t>
                        </m:r>
                      </m:sup>
                    </m:sSubSup>
                  </m:oMath>
                </a14:m>
                <a:r>
                  <a:rPr lang="zh-CN" altLang="zh-CN" dirty="0"/>
                  <a:t>​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mRNA 的 RBS 被结构锁住</a:t>
                </a:r>
                <a:endParaRPr lang="en-US" altLang="zh-CN" dirty="0"/>
              </a:p>
              <a:p>
                <a:r>
                  <a:rPr lang="zh-CN" altLang="zh-CN" dirty="0"/>
                  <a:t>不断积累，形成一个</a:t>
                </a:r>
                <a:r>
                  <a:rPr lang="zh-CN" altLang="zh-CN" b="1" dirty="0"/>
                  <a:t>库存池</a:t>
                </a:r>
                <a:endParaRPr lang="en-US" altLang="zh-CN" b="1" dirty="0"/>
              </a:p>
              <a:p>
                <a:r>
                  <a:rPr lang="zh-CN" altLang="zh-CN" dirty="0"/>
                  <a:t>PB状态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产生 trigger RNA</a:t>
                </a:r>
                <a:endParaRPr lang="en-US" altLang="zh-CN" dirty="0"/>
              </a:p>
              <a:p>
                <a:r>
                  <a:rPr lang="zh-CN" altLang="zh-CN" dirty="0"/>
                  <a:t>trigger RNA 与 Int mRNA 上的 toehold switch 结合</a:t>
                </a:r>
                <a:endParaRPr lang="en-US" altLang="zh-CN" dirty="0"/>
              </a:p>
              <a:p>
                <a:r>
                  <a:rPr lang="zh-CN" altLang="zh-CN" dirty="0"/>
                  <a:t>Trigger+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𝑚𝑅𝑁</m:t>
                    </m:r>
                    <m:sSup>
                      <m:sSupPr>
                        <m:ctrlPr>
                          <a:rPr lang="zh-CN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𝑂𝐹𝐹</m:t>
                        </m:r>
                      </m:sup>
                    </m:sSup>
                  </m:oMath>
                </a14:m>
                <a:r>
                  <a:rPr lang="zh-CN" altLang="zh-CN" dirty="0"/>
                  <a:t>→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𝑚𝑅𝑁</m:t>
                    </m:r>
                    <m:sSup>
                      <m:sSupPr>
                        <m:ctrlPr>
                          <a:rPr lang="zh-CN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𝑂𝑁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此时不产生新的 </a:t>
                </a:r>
                <a:r>
                  <a:rPr lang="en-US" altLang="zh-CN" dirty="0"/>
                  <a:t>mRNA 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已有的 mRNA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逐渐耗尽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C41817-DD31-4CF6-BECD-86ABF3F75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13" y="2103049"/>
                <a:ext cx="5308310" cy="2318070"/>
              </a:xfrm>
              <a:prstGeom prst="rect">
                <a:avLst/>
              </a:prstGeom>
              <a:blipFill>
                <a:blip r:embed="rId2"/>
                <a:stretch>
                  <a:fillRect l="-918" t="-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D7F43343-C6E5-5AD2-B69E-9B9D85AC5410}"/>
              </a:ext>
            </a:extLst>
          </p:cNvPr>
          <p:cNvSpPr txBox="1"/>
          <p:nvPr/>
        </p:nvSpPr>
        <p:spPr>
          <a:xfrm>
            <a:off x="6094492" y="382732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toehold switch</a:t>
            </a:r>
            <a:r>
              <a:rPr lang="zh-CN" altLang="en-US" b="1" dirty="0"/>
              <a:t>：</a:t>
            </a:r>
            <a:r>
              <a:rPr lang="zh-CN" altLang="en-US" dirty="0"/>
              <a:t>有文献</a:t>
            </a:r>
            <a:r>
              <a:rPr lang="zh-CN" altLang="zh-CN" dirty="0"/>
              <a:t>在 2014 年已经在 </a:t>
            </a:r>
            <a:r>
              <a:rPr lang="zh-CN" altLang="zh-CN" i="1" dirty="0"/>
              <a:t>E. coli</a:t>
            </a:r>
            <a:r>
              <a:rPr lang="zh-CN" altLang="zh-CN" dirty="0"/>
              <a:t> 中验证了超过 100 个 toehold switch：switch mRNA 本身由于二级结构封闭 RBS 而不翻译，加入对应 trigger RNA 后结构被打开并启动蛋白翻译；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184793-F76D-76D6-946E-5F971129971B}"/>
                  </a:ext>
                </a:extLst>
              </p:cNvPr>
              <p:cNvSpPr txBox="1"/>
              <p:nvPr/>
            </p:nvSpPr>
            <p:spPr>
              <a:xfrm>
                <a:off x="6094492" y="1583061"/>
                <a:ext cx="6115616" cy="2342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zh-CN" dirty="0"/>
                  <a:t>初始 PB 虽然没事，但第一次</a:t>
                </a:r>
                <a:r>
                  <a:rPr lang="en-US" altLang="zh-CN" dirty="0"/>
                  <a:t>PB</a:t>
                </a:r>
                <a:r>
                  <a:rPr lang="zh-CN" altLang="zh-CN" b="1" dirty="0"/>
                  <a:t> </a:t>
                </a:r>
                <a:r>
                  <a:rPr lang="zh-CN" altLang="zh-CN" dirty="0"/>
                  <a:t>→</a:t>
                </a:r>
                <a:r>
                  <a:rPr lang="en-US" altLang="zh-CN" dirty="0"/>
                  <a:t> LR</a:t>
                </a:r>
                <a:r>
                  <a:rPr lang="zh-CN" altLang="en-US" dirty="0"/>
                  <a:t>时</a:t>
                </a:r>
                <a:endParaRPr lang="zh-CN" altLang="zh-CN" dirty="0"/>
              </a:p>
              <a:p>
                <a:r>
                  <a:rPr lang="zh-CN" altLang="zh-CN" dirty="0"/>
                  <a:t>PB之前已经存在大量</a:t>
                </a:r>
                <a:r>
                  <a:rPr lang="en-US" altLang="zh-CN" dirty="0"/>
                  <a:t> </a:t>
                </a:r>
                <a:r>
                  <a:rPr lang="zh-CN" altLang="zh-CN" dirty="0"/>
                  <a:t>trigger RNA</a:t>
                </a:r>
              </a:p>
              <a:p>
                <a:pPr>
                  <a:buNone/>
                </a:pPr>
                <a:r>
                  <a:rPr lang="zh-CN" altLang="zh-CN" dirty="0"/>
                  <a:t>切到 LR 后：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trigger 停止产生，但不会瞬间消失；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𝑚𝑅𝑁</m:t>
                    </m:r>
                    <m:sSubSup>
                      <m:sSubSupPr>
                        <m:ctrlPr>
                          <a:rPr lang="zh-CN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𝐼𝑛𝑡</m:t>
                        </m:r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𝑂𝐹𝐹</m:t>
                        </m:r>
                      </m:sup>
                    </m:sSubSup>
                  </m:oMath>
                </a14:m>
                <a:r>
                  <a:rPr lang="zh-CN" altLang="zh-CN" dirty="0"/>
                  <a:t>开始产生。</a:t>
                </a:r>
              </a:p>
              <a:p>
                <a:pPr>
                  <a:buNone/>
                </a:pPr>
                <a:r>
                  <a:rPr lang="zh-CN" altLang="zh-CN" dirty="0"/>
                  <a:t>于是可能出现：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𝑡𝑟𝑖𝑔𝑔𝑒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residual</m:t>
                          </m:r>
                        </m:sub>
                      </m:sSub>
                      <m:r>
                        <a:rPr lang="en-US" altLang="zh-C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𝑚𝑅𝑁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newly</m:t>
                          </m:r>
                          <m:r>
                            <m:rPr>
                              <m:nor/>
                            </m:rPr>
                            <a:rPr lang="zh-CN" altLang="en-US" b="0" i="0">
                              <a:latin typeface="+mn-lt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</a:rPr>
                            <m:t>produced</m:t>
                          </m:r>
                        </m:sub>
                      </m:sSub>
                    </m:oMath>
                  </m:oMathPara>
                </a14:m>
                <a:endParaRPr lang="zh-CN" altLang="en-US" b="0" dirty="0"/>
              </a:p>
              <a:p>
                <a:pPr>
                  <a:buNone/>
                </a:pPr>
                <a:r>
                  <a:rPr lang="zh-CN" altLang="en-US" b="0" dirty="0"/>
                  <a:t>产生</a:t>
                </a:r>
                <a:r>
                  <a:rPr lang="zh-CN" altLang="zh-CN" dirty="0"/>
                  <a:t>错误的Int pulse</a:t>
                </a:r>
                <a:endParaRPr lang="zh-CN" altLang="en-US" b="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184793-F76D-76D6-946E-5F9711299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92" y="1583061"/>
                <a:ext cx="6115616" cy="2342693"/>
              </a:xfrm>
              <a:prstGeom prst="rect">
                <a:avLst/>
              </a:prstGeom>
              <a:blipFill>
                <a:blip r:embed="rId3"/>
                <a:stretch>
                  <a:fillRect l="-897" t="-1823" b="-3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FD78BD7-D64F-755D-3197-A472F2FCF12E}"/>
                  </a:ext>
                </a:extLst>
              </p:cNvPr>
              <p:cNvSpPr txBox="1"/>
              <p:nvPr/>
            </p:nvSpPr>
            <p:spPr>
              <a:xfrm>
                <a:off x="6094492" y="3986290"/>
                <a:ext cx="4655745" cy="655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b="1" dirty="0"/>
                  <a:t>t</a:t>
                </a:r>
                <a:r>
                  <a:rPr lang="zh-CN" altLang="zh-CN" b="1" dirty="0"/>
                  <a:t>rigger RNA</a:t>
                </a:r>
                <a:r>
                  <a:rPr lang="zh-CN" altLang="en-US" b="1" dirty="0"/>
                  <a:t>：快速产生，快速降解</a:t>
                </a:r>
                <a:endParaRPr lang="zh-CN" altLang="en-US" b="0" dirty="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𝑚𝑅𝑁</m:t>
                    </m:r>
                    <m:sSubSup>
                      <m:sSubSupPr>
                        <m:ctrlPr>
                          <a:rPr lang="zh-CN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𝐼𝑛𝑡</m:t>
                        </m:r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𝑂𝐹𝐹</m:t>
                        </m:r>
                      </m:sup>
                    </m:sSubSup>
                    <m:r>
                      <a:rPr lang="zh-CN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b="1" dirty="0"/>
                  <a:t>reservoir</a:t>
                </a:r>
                <a:r>
                  <a:rPr lang="zh-CN" altLang="en-US" b="1" dirty="0"/>
                  <a:t>：较慢产生，较慢降解</a:t>
                </a:r>
                <a:endParaRPr lang="zh-CN" altLang="zh-CN" b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FD78BD7-D64F-755D-3197-A472F2FCF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92" y="3986290"/>
                <a:ext cx="4655745" cy="655179"/>
              </a:xfrm>
              <a:prstGeom prst="rect">
                <a:avLst/>
              </a:prstGeom>
              <a:blipFill>
                <a:blip r:embed="rId4"/>
                <a:stretch>
                  <a:fillRect l="-1180" t="-6542" b="-14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069E183-E244-0D8F-98C4-0B2E9A14B3AF}"/>
                  </a:ext>
                </a:extLst>
              </p:cNvPr>
              <p:cNvSpPr txBox="1"/>
              <p:nvPr/>
            </p:nvSpPr>
            <p:spPr>
              <a:xfrm>
                <a:off x="295785" y="5089427"/>
                <a:ext cx="3677970" cy="1242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dirty="0"/>
                  <a:t>可以先简单看一下</a:t>
                </a:r>
                <a:endParaRPr lang="zh-CN" altLang="zh-C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b="0" i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CN" b="0" i="0"/>
                            <m:t>LR→PB</m:t>
                          </m:r>
                          <m:r>
                            <m:rPr>
                              <m:nor/>
                            </m:rPr>
                            <a:rPr lang="zh-CN" altLang="en-US" b="0" i="0"/>
                            <m:t>产生的</m:t>
                          </m:r>
                          <m:r>
                            <m:rPr>
                              <m:nor/>
                            </m:rPr>
                            <a:rPr lang="en-US" altLang="zh-CN" b="0" i="0"/>
                            <m:t>Int</m:t>
                          </m:r>
                          <m:r>
                            <m:rPr>
                              <m:nor/>
                            </m:rPr>
                            <a:rPr lang="zh-CN" altLang="en-US" b="0" i="0"/>
                            <m:t>峰值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 b="0" i="0"/>
                            <m:t>PB→LR</m:t>
                          </m:r>
                          <m:r>
                            <m:rPr>
                              <m:nor/>
                            </m:rPr>
                            <a:rPr lang="zh-CN" altLang="en-US" b="0" i="0"/>
                            <m:t>产生的错误</m:t>
                          </m:r>
                          <m:r>
                            <m:rPr>
                              <m:nor/>
                            </m:rPr>
                            <a:rPr lang="en-US" altLang="zh-CN" b="0" i="0"/>
                            <m:t>Int</m:t>
                          </m:r>
                          <m:r>
                            <m:rPr>
                              <m:nor/>
                            </m:rPr>
                            <a:rPr lang="zh-CN" altLang="en-US" b="0" i="0"/>
                            <m:t>峰值</m:t>
                          </m:r>
                        </m:den>
                      </m:f>
                    </m:oMath>
                  </m:oMathPara>
                </a14:m>
                <a:endParaRPr lang="zh-CN" altLang="en-US" b="0" dirty="0"/>
              </a:p>
              <a:p>
                <a:pPr>
                  <a:buNone/>
                </a:pPr>
                <a:r>
                  <a:rPr lang="zh-CN" altLang="zh-CN" dirty="0"/>
                  <a:t>能不能做得足够大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069E183-E244-0D8F-98C4-0B2E9A14B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85" y="5089427"/>
                <a:ext cx="3677970" cy="1242648"/>
              </a:xfrm>
              <a:prstGeom prst="rect">
                <a:avLst/>
              </a:prstGeom>
              <a:blipFill>
                <a:blip r:embed="rId5"/>
                <a:stretch>
                  <a:fillRect l="-1493" t="-3431" b="-6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47C738DD-05EF-F116-9DB1-AE8E2F964466}"/>
              </a:ext>
            </a:extLst>
          </p:cNvPr>
          <p:cNvSpPr txBox="1"/>
          <p:nvPr/>
        </p:nvSpPr>
        <p:spPr>
          <a:xfrm>
            <a:off x="4660270" y="4985289"/>
            <a:ext cx="66656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如果这个方向做不出来，</a:t>
            </a:r>
            <a:r>
              <a:rPr lang="zh-CN" altLang="en-US" dirty="0"/>
              <a:t>直接放弃，就说</a:t>
            </a:r>
            <a:r>
              <a:rPr lang="zh-CN" altLang="zh-CN" dirty="0"/>
              <a:t>直接的游离重组酶状态级联不具备天然的二进制进位能力，必须额外引入边沿检测模块</a:t>
            </a:r>
            <a:r>
              <a:rPr lang="zh-CN" altLang="en-US" dirty="0"/>
              <a:t>，</a:t>
            </a:r>
            <a:r>
              <a:rPr lang="zh-CN" altLang="zh-CN" dirty="0"/>
              <a:t>这</a:t>
            </a:r>
            <a:r>
              <a:rPr lang="zh-CN" altLang="en-US" dirty="0"/>
              <a:t>也</a:t>
            </a:r>
            <a:r>
              <a:rPr lang="zh-CN" altLang="zh-CN" dirty="0"/>
              <a:t>是它相对于</a:t>
            </a:r>
            <a:r>
              <a:rPr lang="zh-CN" altLang="en-US" dirty="0"/>
              <a:t>另一个</a:t>
            </a:r>
            <a:r>
              <a:rPr lang="zh-CN" altLang="zh-CN" dirty="0"/>
              <a:t>的结构性劣势</a:t>
            </a:r>
            <a:endParaRPr lang="en-US" altLang="zh-CN" dirty="0"/>
          </a:p>
          <a:p>
            <a:r>
              <a:rPr lang="zh-CN" altLang="en-US" dirty="0"/>
              <a:t>接下来就和报告一样，把这一部分当做抽象的元件继续做</a:t>
            </a:r>
            <a:endParaRPr lang="en-US" altLang="zh-CN" dirty="0"/>
          </a:p>
          <a:p>
            <a:r>
              <a:rPr lang="zh-CN" altLang="en-US" dirty="0"/>
              <a:t>然后这一部分的定位就可以变成，为以后要加这一模块的设定一个标准</a:t>
            </a:r>
          </a:p>
        </p:txBody>
      </p:sp>
    </p:spTree>
    <p:extLst>
      <p:ext uri="{BB962C8B-B14F-4D97-AF65-F5344CB8AC3E}">
        <p14:creationId xmlns:p14="http://schemas.microsoft.com/office/powerpoint/2010/main" val="406254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B8FF155-5669-8DDB-01EC-43D4AFE406B2}"/>
              </a:ext>
            </a:extLst>
          </p:cNvPr>
          <p:cNvSpPr txBox="1"/>
          <p:nvPr/>
        </p:nvSpPr>
        <p:spPr>
          <a:xfrm>
            <a:off x="613496" y="802793"/>
            <a:ext cx="54154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b="1" dirty="0"/>
              <a:t>Biological question</a:t>
            </a:r>
            <a:r>
              <a:rPr lang="zh-CN" altLang="zh-CN" dirty="0"/>
              <a:t>：这个模型到底解决什么问题 </a:t>
            </a:r>
          </a:p>
          <a:p>
            <a:pPr lvl="0"/>
            <a:r>
              <a:rPr lang="zh-CN" altLang="zh-CN" b="1" dirty="0"/>
              <a:t>Model input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关键假设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核心方程 / 模型结构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参数来源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最重要的 2–4 张图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每张图得出了什么结论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对实验/系统设计有什么反馈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目前还有什么 limitation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b="1" dirty="0"/>
              <a:t>Wiki 最终准备保留哪些内容</a:t>
            </a:r>
            <a:endParaRPr lang="zh-C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1E5012-7FDF-D8B7-48BE-1A78C8202607}"/>
              </a:ext>
            </a:extLst>
          </p:cNvPr>
          <p:cNvSpPr txBox="1"/>
          <p:nvPr/>
        </p:nvSpPr>
        <p:spPr>
          <a:xfrm>
            <a:off x="6485382" y="54635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Question → Model → Result → Design decision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1EA2DC-062D-C991-130C-F6A33D36D152}"/>
              </a:ext>
            </a:extLst>
          </p:cNvPr>
          <p:cNvSpPr txBox="1"/>
          <p:nvPr/>
        </p:nvSpPr>
        <p:spPr>
          <a:xfrm>
            <a:off x="6485382" y="1280224"/>
            <a:ext cx="6512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When </a:t>
            </a:r>
            <a:r>
              <a:rPr lang="zh-CN" altLang="zh-CN" dirty="0"/>
              <a:t>Modeling content </a:t>
            </a:r>
            <a:r>
              <a:rPr lang="en-US" altLang="zh-CN" dirty="0"/>
              <a:t>F</a:t>
            </a:r>
            <a:r>
              <a:rPr lang="zh-CN" altLang="zh-CN" dirty="0"/>
              <a:t>reeze</a:t>
            </a:r>
            <a:endParaRPr lang="en-US" altLang="zh-CN" dirty="0"/>
          </a:p>
          <a:p>
            <a:r>
              <a:rPr lang="zh-CN" altLang="zh-CN" dirty="0"/>
              <a:t>最终模型 + 最终主要结果 + Wiki 图 + </a:t>
            </a:r>
            <a:r>
              <a:rPr lang="zh-CN" altLang="en-US" dirty="0"/>
              <a:t>简要</a:t>
            </a:r>
            <a:r>
              <a:rPr lang="zh-CN" altLang="zh-CN" dirty="0"/>
              <a:t>文字总结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3ECDA5-ACD1-D4E2-6F04-31EF9CB7A8CB}"/>
              </a:ext>
            </a:extLst>
          </p:cNvPr>
          <p:cNvSpPr txBox="1"/>
          <p:nvPr/>
        </p:nvSpPr>
        <p:spPr>
          <a:xfrm>
            <a:off x="6816480" y="2291093"/>
            <a:ext cx="1018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gitlab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CF7639-A415-8F9D-1763-7513DEDD6FC6}"/>
              </a:ext>
            </a:extLst>
          </p:cNvPr>
          <p:cNvSpPr txBox="1"/>
          <p:nvPr/>
        </p:nvSpPr>
        <p:spPr>
          <a:xfrm>
            <a:off x="6485382" y="3152001"/>
            <a:ext cx="62628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统一所有模块之间的接口</a:t>
            </a:r>
            <a:endParaRPr lang="en-US" altLang="zh-CN" dirty="0"/>
          </a:p>
          <a:p>
            <a:r>
              <a:rPr lang="zh-CN" altLang="zh-CN" b="1" dirty="0"/>
              <a:t>A → B</a:t>
            </a:r>
            <a:endParaRPr lang="zh-CN" altLang="zh-CN" dirty="0"/>
          </a:p>
          <a:p>
            <a:pPr lvl="0"/>
            <a:r>
              <a:rPr lang="zh-CN" altLang="zh-CN" dirty="0"/>
              <a:t>A 给 B 的究竟是什么？ </a:t>
            </a:r>
          </a:p>
          <a:p>
            <a:pPr lvl="0"/>
            <a:r>
              <a:rPr lang="zh-CN" altLang="zh-CN" dirty="0"/>
              <a:t>concentration？ </a:t>
            </a:r>
          </a:p>
          <a:p>
            <a:pPr lvl="0"/>
            <a:r>
              <a:rPr lang="zh-CN" altLang="zh-CN" dirty="0"/>
              <a:t>production flux？ </a:t>
            </a:r>
          </a:p>
          <a:p>
            <a:pPr lvl="0"/>
            <a:r>
              <a:rPr lang="zh-CN" altLang="zh-CN" dirty="0"/>
              <a:t>normalized waveform？ </a:t>
            </a:r>
          </a:p>
          <a:p>
            <a:pPr lvl="0"/>
            <a:r>
              <a:rPr lang="zh-CN" altLang="zh-CN" dirty="0"/>
              <a:t>单位是什么？ </a:t>
            </a:r>
          </a:p>
          <a:p>
            <a:r>
              <a:rPr lang="zh-CN" altLang="zh-CN" b="1" dirty="0"/>
              <a:t>B → C/D</a:t>
            </a:r>
            <a:endParaRPr lang="zh-CN" altLang="zh-CN" dirty="0"/>
          </a:p>
          <a:p>
            <a:pPr lvl="0"/>
            <a:r>
              <a:rPr lang="zh-CN" altLang="zh-CN" dirty="0"/>
              <a:t>单 bit 模型里的哪些参数应该继承？ </a:t>
            </a:r>
          </a:p>
          <a:p>
            <a:pPr lvl="0"/>
            <a:r>
              <a:rPr lang="zh-CN" altLang="zh-CN" dirty="0"/>
              <a:t>哪些参数 C/D 可以为了自己的机制重新设定？ </a:t>
            </a:r>
          </a:p>
          <a:p>
            <a:r>
              <a:rPr lang="zh-CN" altLang="zh-CN" b="1" dirty="0"/>
              <a:t>Counter → shutdown</a:t>
            </a:r>
            <a:endParaRPr lang="zh-CN" altLang="zh-CN" dirty="0"/>
          </a:p>
          <a:p>
            <a:pPr lvl="0"/>
            <a:r>
              <a:rPr lang="zh-CN" altLang="zh-CN" dirty="0"/>
              <a:t>shutdown 的 trigger 到底对应哪个 DNA state？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5B18DE-6CF3-7B98-4FC7-8A5864371C7B}"/>
              </a:ext>
            </a:extLst>
          </p:cNvPr>
          <p:cNvSpPr txBox="1"/>
          <p:nvPr/>
        </p:nvSpPr>
        <p:spPr>
          <a:xfrm>
            <a:off x="849834" y="4329246"/>
            <a:ext cx="3169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wet-lab validation 不足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24676F-63D0-5581-9B15-A3AF9DBF7F32}"/>
              </a:ext>
            </a:extLst>
          </p:cNvPr>
          <p:cNvSpPr txBox="1"/>
          <p:nvPr/>
        </p:nvSpPr>
        <p:spPr>
          <a:xfrm>
            <a:off x="713985" y="5362709"/>
            <a:ext cx="3441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cyl</a:t>
            </a:r>
            <a:r>
              <a:rPr lang="zh-CN" altLang="en-US" dirty="0"/>
              <a:t>学长建议</a:t>
            </a:r>
            <a:r>
              <a:rPr lang="en-US" altLang="zh-CN" dirty="0"/>
              <a:t>wiki</a:t>
            </a:r>
            <a:r>
              <a:rPr lang="zh-CN" altLang="en-US" dirty="0"/>
              <a:t>里面</a:t>
            </a:r>
            <a:r>
              <a:rPr lang="en-US" altLang="zh-CN" dirty="0"/>
              <a:t>dry lab</a:t>
            </a:r>
            <a:r>
              <a:rPr lang="zh-CN" altLang="en-US" dirty="0"/>
              <a:t>除了</a:t>
            </a:r>
            <a:r>
              <a:rPr lang="en-US" altLang="zh-CN" dirty="0"/>
              <a:t>model</a:t>
            </a:r>
            <a:r>
              <a:rPr lang="zh-CN" altLang="en-US" dirty="0"/>
              <a:t>再分几栏</a:t>
            </a:r>
          </a:p>
        </p:txBody>
      </p:sp>
    </p:spTree>
    <p:extLst>
      <p:ext uri="{BB962C8B-B14F-4D97-AF65-F5344CB8AC3E}">
        <p14:creationId xmlns:p14="http://schemas.microsoft.com/office/powerpoint/2010/main" val="86827255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2608</TotalTime>
  <Words>1885</Words>
  <Application>Microsoft Office PowerPoint</Application>
  <PresentationFormat>宽屏</PresentationFormat>
  <Paragraphs>87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3332464630@qq.com</cp:lastModifiedBy>
  <cp:revision>14</cp:revision>
  <dcterms:created xsi:type="dcterms:W3CDTF">2023-08-09T12:44:00Z</dcterms:created>
  <dcterms:modified xsi:type="dcterms:W3CDTF">2026-09-13T08:14:55Z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