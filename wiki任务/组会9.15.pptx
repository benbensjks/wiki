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>
        <p:scale>
          <a:sx n="81" d="100"/>
          <a:sy n="81" d="100"/>
        </p:scale>
        <p:origin x="1692" y="6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9711EEB-4FF8-7C80-3925-449C7DC99CA0}"/>
              </a:ext>
            </a:extLst>
          </p:cNvPr>
          <p:cNvSpPr txBox="1"/>
          <p:nvPr/>
        </p:nvSpPr>
        <p:spPr>
          <a:xfrm>
            <a:off x="314609" y="278704"/>
            <a:ext cx="647549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zh-CN" altLang="en-US" sz="2000" b="1" dirty="0"/>
              <a:t>交付规则</a:t>
            </a:r>
            <a:endParaRPr lang="en-US" altLang="zh-CN" sz="2000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sz="2000" dirty="0"/>
              <a:t>Markdown 严格分级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sz="2000" dirty="0"/>
              <a:t>图片单独打包 + caption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sz="2000" dirty="0"/>
              <a:t>公式 LaTeX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sz="2000" dirty="0"/>
              <a:t>reference / Bib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sz="2000" dirty="0"/>
              <a:t>交互或动画说明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sz="2000" dirty="0"/>
              <a:t>每个部分建议采用什么网页组件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sz="2000" dirty="0"/>
              <a:t>叙事逻辑和内容呈现形式由建模组自己决定，网页组主要负责实现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05DD484-819D-C79E-8956-3C63A2011B73}"/>
              </a:ext>
            </a:extLst>
          </p:cNvPr>
          <p:cNvSpPr txBox="1"/>
          <p:nvPr/>
        </p:nvSpPr>
        <p:spPr>
          <a:xfrm>
            <a:off x="450411" y="4129776"/>
            <a:ext cx="6097508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zh-CN" altLang="zh-CN" sz="2000" dirty="0"/>
              <a:t>现在已经完成什么？</a:t>
            </a:r>
            <a:endParaRPr lang="en-US" altLang="zh-CN" sz="2000" dirty="0"/>
          </a:p>
          <a:p>
            <a:pPr marL="342900" indent="-342900">
              <a:buAutoNum type="arabicPeriod"/>
            </a:pPr>
            <a:r>
              <a:rPr lang="zh-CN" altLang="zh-CN" sz="2000" dirty="0"/>
              <a:t>还有什么必须补？</a:t>
            </a:r>
            <a:endParaRPr lang="en-US" altLang="zh-CN" sz="2000" dirty="0"/>
          </a:p>
          <a:p>
            <a:pPr marL="342900" indent="-342900">
              <a:buAutoNum type="arabicPeriod"/>
            </a:pPr>
            <a:r>
              <a:rPr lang="zh-CN" altLang="zh-CN" sz="2000" dirty="0"/>
              <a:t>哪些工作决定不再做？</a:t>
            </a:r>
            <a:endParaRPr lang="en-US" altLang="zh-CN" sz="2000" dirty="0"/>
          </a:p>
          <a:p>
            <a:pPr marL="342900" indent="-342900">
              <a:buAutoNum type="arabicPeriod"/>
            </a:pPr>
            <a:r>
              <a:rPr lang="zh-CN" altLang="zh-CN" sz="2000" dirty="0"/>
              <a:t>最终准备在 Wiki 得出什么结论</a:t>
            </a:r>
            <a:r>
              <a:rPr lang="zh-CN" altLang="en-US" sz="2000" dirty="0"/>
              <a:t>？</a:t>
            </a:r>
            <a:endParaRPr lang="en-US" altLang="zh-CN" sz="2000" dirty="0"/>
          </a:p>
          <a:p>
            <a:pPr marL="342900" indent="-342900">
              <a:buAutoNum type="arabicPeriod"/>
            </a:pPr>
            <a:r>
              <a:rPr lang="zh-CN" altLang="zh-CN" sz="2000" dirty="0"/>
              <a:t>9 月底能不能冻结核心结果？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173781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AAEC43C5-B2DA-551C-E39A-759CB2E021AD}"/>
              </a:ext>
            </a:extLst>
          </p:cNvPr>
          <p:cNvSpPr txBox="1"/>
          <p:nvPr/>
        </p:nvSpPr>
        <p:spPr>
          <a:xfrm>
            <a:off x="1663575" y="1559180"/>
            <a:ext cx="7960258" cy="2814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zh-CN" sz="2000" dirty="0"/>
              <a:t>振荡器本体现在是否已经可以停止继续扩展？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zh-CN" sz="2000" dirty="0"/>
              <a:t>质粒 / 基因组两种情况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zh-CN" sz="2000" dirty="0"/>
              <a:t>最终输出给 counter 的 waveform ？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zh-CN" sz="2000" dirty="0"/>
              <a:t>period / amplitude / pulse width 对下游计数的影响做到什么程度？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zh-CN" sz="2000" dirty="0"/>
              <a:t>GSA 找到的关键参数真正转化成“如何调周期”的设计结论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zh-CN" sz="2000" dirty="0"/>
              <a:t>load effect</a:t>
            </a:r>
          </a:p>
        </p:txBody>
      </p:sp>
    </p:spTree>
    <p:extLst>
      <p:ext uri="{BB962C8B-B14F-4D97-AF65-F5344CB8AC3E}">
        <p14:creationId xmlns:p14="http://schemas.microsoft.com/office/powerpoint/2010/main" val="12294287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2CBFD-D6C2-8B30-4D74-06DCEAF7E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AA5F65D-DB58-9BCF-AC49-91CC08171C58}"/>
              </a:ext>
            </a:extLst>
          </p:cNvPr>
          <p:cNvSpPr txBox="1"/>
          <p:nvPr/>
        </p:nvSpPr>
        <p:spPr>
          <a:xfrm>
            <a:off x="1844644" y="1722141"/>
            <a:ext cx="7643387" cy="2351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zh-CN" sz="2000" dirty="0"/>
              <a:t>BM3R1 promoter strength 最后推荐什么范围？ </a:t>
            </a:r>
            <a:endParaRPr lang="en-US" altLang="zh-CN" sz="20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zh-CN" sz="2000" dirty="0"/>
              <a:t>BM3R1 / RDF 的关系到底是什么？ </a:t>
            </a:r>
            <a:endParaRPr lang="en-US" altLang="zh-CN" sz="20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zh-CN" sz="2000" dirty="0"/>
              <a:t>degradation tag加在哪里、在什么条件下需要？ </a:t>
            </a:r>
            <a:endParaRPr lang="en-US" altLang="zh-CN" sz="20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zh-CN" sz="2000" dirty="0"/>
              <a:t>用 A 最新 waveform 输入以后，原先结论是否仍然成立？ </a:t>
            </a:r>
            <a:endParaRPr lang="en-US" altLang="zh-CN" sz="20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zh-CN" sz="2000" dirty="0"/>
              <a:t>one-pulse-one-flip 的工作窗口最后怎么定义？</a:t>
            </a:r>
          </a:p>
        </p:txBody>
      </p:sp>
    </p:spTree>
    <p:extLst>
      <p:ext uri="{BB962C8B-B14F-4D97-AF65-F5344CB8AC3E}">
        <p14:creationId xmlns:p14="http://schemas.microsoft.com/office/powerpoint/2010/main" val="3598526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7CB31-993C-5F21-1B7D-9EDBC1EF1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C078F5F8-D2C7-1771-09F4-A9FAE069711B}"/>
              </a:ext>
            </a:extLst>
          </p:cNvPr>
          <p:cNvSpPr txBox="1"/>
          <p:nvPr/>
        </p:nvSpPr>
        <p:spPr>
          <a:xfrm>
            <a:off x="685801" y="171585"/>
            <a:ext cx="6683719" cy="327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zh-CN" sz="2000" dirty="0"/>
              <a:t>最终采用的 FFL 架构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zh-CN" sz="2000" dirty="0"/>
              <a:t>二级、三级分别做到什么程度？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zh-CN" sz="2000" dirty="0"/>
              <a:t>三级 leakage 问题现在怎么处理？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zh-CN" sz="2000" dirty="0"/>
              <a:t>为了解决 leakage 改了哪些参数？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zh-CN" sz="2000" dirty="0"/>
              <a:t>改参数以后，原来的 single-bit 功能有没有被破坏？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zh-CN" sz="2000" dirty="0"/>
              <a:t>最终是要展示“这个架构可行”，还是“这个架构存在明确限制”？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96BDF1D-C30F-0E27-75D2-9BB0FF0E86E6}"/>
              </a:ext>
            </a:extLst>
          </p:cNvPr>
          <p:cNvSpPr txBox="1"/>
          <p:nvPr/>
        </p:nvSpPr>
        <p:spPr>
          <a:xfrm>
            <a:off x="685801" y="3972797"/>
            <a:ext cx="6855735" cy="2351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zh-CN" sz="2000" dirty="0"/>
              <a:t>carry pulse 在当前模型里究竟怎么定义？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zh-CN" sz="2000" dirty="0"/>
              <a:t>是否正式把它定义为一种 abstract / prospective carry architecture？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zh-CN" sz="2000" dirty="0"/>
              <a:t>二级、三级最终分别能给出什么结果？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zh-CN" sz="2000" dirty="0"/>
              <a:t>能不能给出 pulse strength / width / interval 的工作窗口？ 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CB4AD81-74E3-DC49-B9D7-7979C7B7B26C}"/>
              </a:ext>
            </a:extLst>
          </p:cNvPr>
          <p:cNvSpPr txBox="1"/>
          <p:nvPr/>
        </p:nvSpPr>
        <p:spPr>
          <a:xfrm>
            <a:off x="8118695" y="2721496"/>
            <a:ext cx="32252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  <a:defRPr sz="2000"/>
            </a:lvl1pPr>
          </a:lstStyle>
          <a:p>
            <a:r>
              <a:rPr lang="zh-CN" altLang="en-US" dirty="0"/>
              <a:t>统一</a:t>
            </a:r>
            <a:r>
              <a:rPr lang="en-US" altLang="zh-CN" dirty="0"/>
              <a:t>single-bit</a:t>
            </a:r>
          </a:p>
          <a:p>
            <a:r>
              <a:rPr lang="zh-CN" altLang="zh-CN" dirty="0"/>
              <a:t>用哪些共同指标比较？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818357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32132AD8-6EC9-A881-19EC-28C4E7710414}"/>
              </a:ext>
            </a:extLst>
          </p:cNvPr>
          <p:cNvSpPr txBox="1"/>
          <p:nvPr/>
        </p:nvSpPr>
        <p:spPr>
          <a:xfrm>
            <a:off x="414196" y="211950"/>
            <a:ext cx="609750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b="1" dirty="0"/>
              <a:t>1. Modeling Overview</a:t>
            </a:r>
            <a:br>
              <a:rPr lang="zh-CN" altLang="zh-CN" dirty="0"/>
            </a:br>
            <a:r>
              <a:rPr lang="zh-CN" altLang="zh-CN" b="1" dirty="0"/>
              <a:t>2. Building and Tuning the Clock</a:t>
            </a:r>
            <a:br>
              <a:rPr lang="zh-CN" altLang="zh-CN" dirty="0"/>
            </a:br>
            <a:r>
              <a:rPr lang="zh-CN" altLang="zh-CN" b="1" dirty="0"/>
              <a:t>3. Coupling the Clock to a Reliable Single-bit Counter</a:t>
            </a:r>
            <a:br>
              <a:rPr lang="zh-CN" altLang="zh-CN" dirty="0"/>
            </a:br>
            <a:r>
              <a:rPr lang="zh-CN" altLang="zh-CN" b="1" dirty="0"/>
              <a:t>4. Scaling from One Bit to Multi-bit Counting</a:t>
            </a:r>
            <a:br>
              <a:rPr lang="zh-CN" altLang="zh-CN" dirty="0"/>
            </a:br>
            <a:r>
              <a:rPr lang="zh-CN" altLang="zh-CN" b="1" dirty="0"/>
              <a:t>5. Programming the Output Duration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7B2D33F-6AFA-EFF2-DF0C-C4C80AE58DE7}"/>
              </a:ext>
            </a:extLst>
          </p:cNvPr>
          <p:cNvSpPr txBox="1"/>
          <p:nvPr/>
        </p:nvSpPr>
        <p:spPr>
          <a:xfrm>
            <a:off x="590739" y="3059668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/>
              <a:t>9.20 要交给美工的图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BB58115-EEAD-8B97-40B8-4FD1A6E1D190}"/>
              </a:ext>
            </a:extLst>
          </p:cNvPr>
          <p:cNvSpPr txBox="1"/>
          <p:nvPr/>
        </p:nvSpPr>
        <p:spPr>
          <a:xfrm>
            <a:off x="590739" y="3686280"/>
            <a:ext cx="408084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TEMPO modeling 总体 workflow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Oscillator → waveform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Single-bit Int/RDF/BM3R1 机制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C 的 FFL carry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D 的游离 recombinase carry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Shutdown 机制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Full-system coupling</a:t>
            </a:r>
            <a:endParaRPr lang="en-US" altLang="zh-C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altLang="zh-CN" dirty="0"/>
              <a:t>engineering</a:t>
            </a:r>
            <a:endParaRPr lang="zh-CN" altLang="zh-CN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5EFD776-4935-AE89-E261-807110D75785}"/>
              </a:ext>
            </a:extLst>
          </p:cNvPr>
          <p:cNvSpPr txBox="1"/>
          <p:nvPr/>
        </p:nvSpPr>
        <p:spPr>
          <a:xfrm>
            <a:off x="482098" y="6251884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/>
              <a:t>给美工一个草图或者文字说明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6906192-765A-BCDD-B16B-3915B449951A}"/>
              </a:ext>
            </a:extLst>
          </p:cNvPr>
          <p:cNvSpPr txBox="1"/>
          <p:nvPr/>
        </p:nvSpPr>
        <p:spPr>
          <a:xfrm>
            <a:off x="5089179" y="4054184"/>
            <a:ext cx="29808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/>
              <a:t>这张图要让读者看懂什么？</a:t>
            </a:r>
            <a:br>
              <a:rPr lang="zh-CN" altLang="zh-CN" dirty="0"/>
            </a:br>
            <a:r>
              <a:rPr lang="zh-CN" altLang="zh-CN" dirty="0"/>
              <a:t>有哪些核心元件？</a:t>
            </a:r>
            <a:br>
              <a:rPr lang="zh-CN" altLang="zh-CN" dirty="0"/>
            </a:br>
            <a:r>
              <a:rPr lang="zh-CN" altLang="zh-CN" dirty="0"/>
              <a:t>箭头代表什么？</a:t>
            </a:r>
            <a:br>
              <a:rPr lang="zh-CN" altLang="zh-CN" dirty="0"/>
            </a:br>
            <a:r>
              <a:rPr lang="zh-CN" altLang="zh-CN" dirty="0"/>
              <a:t>哪些内容一定不能画错？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5694599-7E57-B4D2-48EB-C19632FE799A}"/>
              </a:ext>
            </a:extLst>
          </p:cNvPr>
          <p:cNvSpPr txBox="1"/>
          <p:nvPr/>
        </p:nvSpPr>
        <p:spPr>
          <a:xfrm>
            <a:off x="6094492" y="303476"/>
            <a:ext cx="609750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oscillator robustness → 放第 2 章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single-bit / coupling robustness → 放第 3 章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cascade robustness → 放第 4 章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shutdown parameter robustness → 放第 5 章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3205BF5-0CC0-BBBC-AC97-29BAEA87077C}"/>
              </a:ext>
            </a:extLst>
          </p:cNvPr>
          <p:cNvSpPr txBox="1"/>
          <p:nvPr/>
        </p:nvSpPr>
        <p:spPr>
          <a:xfrm>
            <a:off x="6217467" y="2176583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/>
              <a:t>这个波形能不能让 counter 正确工作</a:t>
            </a:r>
            <a:endParaRPr lang="zh-CN" altLang="en-US" dirty="0"/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D15178A9-2283-6CCF-B9F0-4204ACA5B477}"/>
              </a:ext>
            </a:extLst>
          </p:cNvPr>
          <p:cNvCxnSpPr>
            <a:cxnSpLocks/>
          </p:cNvCxnSpPr>
          <p:nvPr/>
        </p:nvCxnSpPr>
        <p:spPr>
          <a:xfrm>
            <a:off x="3639493" y="793151"/>
            <a:ext cx="2960483" cy="12782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571A3F16-4F8C-5ACB-69DF-96B0DF30B502}"/>
              </a:ext>
            </a:extLst>
          </p:cNvPr>
          <p:cNvSpPr txBox="1"/>
          <p:nvPr/>
        </p:nvSpPr>
        <p:spPr>
          <a:xfrm>
            <a:off x="443620" y="1817110"/>
            <a:ext cx="61563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/>
              <a:t>最后加一个</a:t>
            </a:r>
            <a:r>
              <a:rPr lang="zh-CN" altLang="zh-CN" b="1" dirty="0"/>
              <a:t>总结型的 Modeling-Guided Design 面板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56167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B39459BA-B2B1-0BEE-1781-45EA0051FC97}"/>
              </a:ext>
            </a:extLst>
          </p:cNvPr>
          <p:cNvSpPr txBox="1"/>
          <p:nvPr/>
        </p:nvSpPr>
        <p:spPr>
          <a:xfrm>
            <a:off x="821602" y="340434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/>
              <a:t>Design → Build → Test → Learn → Redesign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01B944-3E39-57FD-D414-1BC8627726CE}"/>
              </a:ext>
            </a:extLst>
          </p:cNvPr>
          <p:cNvSpPr txBox="1"/>
          <p:nvPr/>
        </p:nvSpPr>
        <p:spPr>
          <a:xfrm>
            <a:off x="821602" y="1245781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/>
              <a:t>定 Wiki 的页面表现方式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85645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FE2875D-C0A0-AD54-E1C2-D9C12FAAF69F}"/>
              </a:ext>
            </a:extLst>
          </p:cNvPr>
          <p:cNvCxnSpPr/>
          <p:nvPr/>
        </p:nvCxnSpPr>
        <p:spPr>
          <a:xfrm>
            <a:off x="319889" y="2136618"/>
            <a:ext cx="11552222" cy="0"/>
          </a:xfrm>
          <a:prstGeom prst="line">
            <a:avLst/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13F5B9E2-0792-FB4E-0686-3FD9EDDF22B1}"/>
              </a:ext>
            </a:extLst>
          </p:cNvPr>
          <p:cNvSpPr/>
          <p:nvPr/>
        </p:nvSpPr>
        <p:spPr>
          <a:xfrm>
            <a:off x="1121127" y="2077776"/>
            <a:ext cx="117684" cy="117684"/>
          </a:xfrm>
          <a:prstGeom prst="ellipse">
            <a:avLst/>
          </a:prstGeom>
          <a:solidFill>
            <a:schemeClr val="bg1"/>
          </a:solidFill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941450B-32DB-550D-3664-8CF75473837B}"/>
              </a:ext>
            </a:extLst>
          </p:cNvPr>
          <p:cNvSpPr txBox="1"/>
          <p:nvPr/>
        </p:nvSpPr>
        <p:spPr>
          <a:xfrm>
            <a:off x="1013995" y="1401951"/>
            <a:ext cx="10683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/>
              <a:t>9.20</a:t>
            </a:r>
            <a:endParaRPr lang="zh-CN" altLang="en-US" dirty="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2B5D784F-C0D7-826A-746E-8AB419339E6D}"/>
              </a:ext>
            </a:extLst>
          </p:cNvPr>
          <p:cNvSpPr/>
          <p:nvPr/>
        </p:nvSpPr>
        <p:spPr>
          <a:xfrm>
            <a:off x="4352080" y="2077776"/>
            <a:ext cx="117684" cy="117684"/>
          </a:xfrm>
          <a:prstGeom prst="ellipse">
            <a:avLst/>
          </a:prstGeom>
          <a:solidFill>
            <a:schemeClr val="bg1"/>
          </a:solidFill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52FC3D9-D2DA-77A1-EFD6-3651B4E6C34C}"/>
              </a:ext>
            </a:extLst>
          </p:cNvPr>
          <p:cNvSpPr txBox="1"/>
          <p:nvPr/>
        </p:nvSpPr>
        <p:spPr>
          <a:xfrm>
            <a:off x="4142707" y="1372530"/>
            <a:ext cx="15775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/>
              <a:t>9.30</a:t>
            </a:r>
            <a:endParaRPr lang="zh-CN" altLang="en-US" dirty="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61FE4D73-3CC1-A9F0-BD0A-A26F40663650}"/>
              </a:ext>
            </a:extLst>
          </p:cNvPr>
          <p:cNvSpPr/>
          <p:nvPr/>
        </p:nvSpPr>
        <p:spPr>
          <a:xfrm>
            <a:off x="7111503" y="2077776"/>
            <a:ext cx="117684" cy="117684"/>
          </a:xfrm>
          <a:prstGeom prst="ellipse">
            <a:avLst/>
          </a:prstGeom>
          <a:solidFill>
            <a:schemeClr val="bg1"/>
          </a:solidFill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20B66D5-84CA-FBF6-01A8-7834BD64E122}"/>
              </a:ext>
            </a:extLst>
          </p:cNvPr>
          <p:cNvSpPr txBox="1"/>
          <p:nvPr/>
        </p:nvSpPr>
        <p:spPr>
          <a:xfrm>
            <a:off x="5928316" y="1384250"/>
            <a:ext cx="32343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/>
              <a:t>10.5 左右，建模组内部 DDL</a:t>
            </a:r>
            <a:endParaRPr lang="zh-CN" altLang="en-US" dirty="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1D935370-1987-1B7B-1066-B1361F411058}"/>
              </a:ext>
            </a:extLst>
          </p:cNvPr>
          <p:cNvSpPr/>
          <p:nvPr/>
        </p:nvSpPr>
        <p:spPr>
          <a:xfrm>
            <a:off x="10725354" y="2077776"/>
            <a:ext cx="117684" cy="117684"/>
          </a:xfrm>
          <a:prstGeom prst="ellipse">
            <a:avLst/>
          </a:prstGeom>
          <a:solidFill>
            <a:schemeClr val="bg1"/>
          </a:solidFill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C2B3C11-F1E2-B798-4543-C013C89E107F}"/>
              </a:ext>
            </a:extLst>
          </p:cNvPr>
          <p:cNvSpPr txBox="1"/>
          <p:nvPr/>
        </p:nvSpPr>
        <p:spPr>
          <a:xfrm>
            <a:off x="10518613" y="1447150"/>
            <a:ext cx="16590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/>
              <a:t>10.7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AA06D3F-0EED-9ED7-A5DA-71D69A494AAA}"/>
              </a:ext>
            </a:extLst>
          </p:cNvPr>
          <p:cNvSpPr txBox="1"/>
          <p:nvPr/>
        </p:nvSpPr>
        <p:spPr>
          <a:xfrm>
            <a:off x="319889" y="2726587"/>
            <a:ext cx="28880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/>
              <a:t>目录框架、大致内容、第一批机制图需求交出去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30D2BFF2-18A8-5D45-CE15-2965E3FF5F07}"/>
              </a:ext>
            </a:extLst>
          </p:cNvPr>
          <p:cNvSpPr txBox="1"/>
          <p:nvPr/>
        </p:nvSpPr>
        <p:spPr>
          <a:xfrm>
            <a:off x="3487656" y="2560795"/>
            <a:ext cx="244671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/>
              <a:t>核心模型和主要结论基本冻结；Engineering 逻辑、最终绘图内容基本定下来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3943B7F0-A1DE-9275-05C2-EBBE7354E674}"/>
              </a:ext>
            </a:extLst>
          </p:cNvPr>
          <p:cNvSpPr txBox="1"/>
          <p:nvPr/>
        </p:nvSpPr>
        <p:spPr>
          <a:xfrm>
            <a:off x="6214067" y="2390375"/>
            <a:ext cx="203023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/>
              <a:t>完整 Markdown 初稿、图片、caption、公式、reference、组件说明基本齐全</a:t>
            </a:r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8B20970C-362A-A0B1-44A5-3F1203102D83}"/>
              </a:ext>
            </a:extLst>
          </p:cNvPr>
          <p:cNvSpPr txBox="1"/>
          <p:nvPr/>
        </p:nvSpPr>
        <p:spPr>
          <a:xfrm>
            <a:off x="9902243" y="2560794"/>
            <a:ext cx="20302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/>
              <a:t>正式 Wiki 文案 + 第二轮绘图要求 + presentation video PPT 展示内容交付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03261418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354</TotalTime>
  <Words>1418</Words>
  <Application>Microsoft Office PowerPoint</Application>
  <PresentationFormat>宽屏</PresentationFormat>
  <Paragraphs>64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0" baseType="lpstr">
      <vt:lpstr>Arial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ASUS</dc:creator>
  <cp:lastModifiedBy>3332464630@qq.com</cp:lastModifiedBy>
  <cp:revision>7</cp:revision>
  <dcterms:created xsi:type="dcterms:W3CDTF">2023-08-09T12:44:00Z</dcterms:created>
  <dcterms:modified xsi:type="dcterms:W3CDTF">2026-09-15T15:02:06Z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